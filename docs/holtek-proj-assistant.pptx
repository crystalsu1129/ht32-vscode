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584" r:id="rId2"/>
    <p:sldId id="577" r:id="rId3"/>
    <p:sldId id="587" r:id="rId4"/>
    <p:sldId id="585" r:id="rId5"/>
    <p:sldId id="586" r:id="rId6"/>
    <p:sldId id="590" r:id="rId7"/>
    <p:sldId id="609" r:id="rId8"/>
    <p:sldId id="607" r:id="rId9"/>
    <p:sldId id="588" r:id="rId10"/>
    <p:sldId id="591" r:id="rId11"/>
    <p:sldId id="608" r:id="rId12"/>
    <p:sldId id="592" r:id="rId13"/>
    <p:sldId id="594" r:id="rId14"/>
    <p:sldId id="593" r:id="rId15"/>
    <p:sldId id="595" r:id="rId16"/>
    <p:sldId id="596" r:id="rId17"/>
    <p:sldId id="610" r:id="rId18"/>
    <p:sldId id="598" r:id="rId19"/>
    <p:sldId id="601" r:id="rId20"/>
    <p:sldId id="603" r:id="rId21"/>
    <p:sldId id="606" r:id="rId22"/>
    <p:sldId id="604" r:id="rId23"/>
    <p:sldId id="605" r:id="rId24"/>
    <p:sldId id="582" r:id="rId2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CA76F7-32F1-4756-83E1-866546525212}" v="11" dt="2026-08-04T02:32:06.918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3" d="100"/>
          <a:sy n="103" d="100"/>
        </p:scale>
        <p:origin x="874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蘇麗卿" userId="4ee47760-9011-4250-8eb4-1025507f4f51" providerId="ADAL" clId="{373948B2-F73C-44A5-9141-DF3F190072CD}"/>
    <pc:docChg chg="custSel modSld">
      <pc:chgData name="蘇麗卿" userId="4ee47760-9011-4250-8eb4-1025507f4f51" providerId="ADAL" clId="{373948B2-F73C-44A5-9141-DF3F190072CD}" dt="2026-08-04T02:34:10.482" v="71" actId="1076"/>
      <pc:docMkLst>
        <pc:docMk/>
      </pc:docMkLst>
      <pc:sldChg chg="addSp delSp modSp mod">
        <pc:chgData name="蘇麗卿" userId="4ee47760-9011-4250-8eb4-1025507f4f51" providerId="ADAL" clId="{373948B2-F73C-44A5-9141-DF3F190072CD}" dt="2026-08-04T02:34:10.482" v="71" actId="1076"/>
        <pc:sldMkLst>
          <pc:docMk/>
          <pc:sldMk cId="1973115766" sldId="601"/>
        </pc:sldMkLst>
        <pc:graphicFrameChg chg="mod modGraphic">
          <ac:chgData name="蘇麗卿" userId="4ee47760-9011-4250-8eb4-1025507f4f51" providerId="ADAL" clId="{373948B2-F73C-44A5-9141-DF3F190072CD}" dt="2026-08-04T02:32:39.728" v="60" actId="1076"/>
          <ac:graphicFrameMkLst>
            <pc:docMk/>
            <pc:sldMk cId="1973115766" sldId="601"/>
            <ac:graphicFrameMk id="5" creationId="{331F0925-F850-DA88-C1FA-773D98D07FDB}"/>
          </ac:graphicFrameMkLst>
        </pc:graphicFrameChg>
        <pc:picChg chg="add mod">
          <ac:chgData name="蘇麗卿" userId="4ee47760-9011-4250-8eb4-1025507f4f51" providerId="ADAL" clId="{373948B2-F73C-44A5-9141-DF3F190072CD}" dt="2026-08-04T02:34:10.482" v="71" actId="1076"/>
          <ac:picMkLst>
            <pc:docMk/>
            <pc:sldMk cId="1973115766" sldId="601"/>
            <ac:picMk id="6" creationId="{076B60D5-065A-24A9-27CD-595B72A3E5D8}"/>
          </ac:picMkLst>
        </pc:picChg>
        <pc:picChg chg="del">
          <ac:chgData name="蘇麗卿" userId="4ee47760-9011-4250-8eb4-1025507f4f51" providerId="ADAL" clId="{373948B2-F73C-44A5-9141-DF3F190072CD}" dt="2026-08-04T02:33:58.992" v="63" actId="478"/>
          <ac:picMkLst>
            <pc:docMk/>
            <pc:sldMk cId="1973115766" sldId="601"/>
            <ac:picMk id="9" creationId="{7B91E3BF-7AE3-5CCF-8916-62E6894F792A}"/>
          </ac:picMkLst>
        </pc:picChg>
        <pc:picChg chg="mod">
          <ac:chgData name="蘇麗卿" userId="4ee47760-9011-4250-8eb4-1025507f4f51" providerId="ADAL" clId="{373948B2-F73C-44A5-9141-DF3F190072CD}" dt="2026-08-04T02:33:34.242" v="62" actId="14100"/>
          <ac:picMkLst>
            <pc:docMk/>
            <pc:sldMk cId="1973115766" sldId="601"/>
            <ac:picMk id="13" creationId="{69224D5B-0A0F-A04C-5C35-B7A2F29628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94EAE874-0F71-EB41-B151-28C717DE48A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-978937" y="-527925"/>
            <a:ext cx="10931249" cy="5619936"/>
          </a:xfrm>
          <a:prstGeom prst="rect">
            <a:avLst/>
          </a:prstGeom>
        </p:spPr>
      </p:pic>
      <p:sp>
        <p:nvSpPr>
          <p:cNvPr id="20" name="标题占位符 1">
            <a:extLst>
              <a:ext uri="{FF2B5EF4-FFF2-40B4-BE49-F238E27FC236}">
                <a16:creationId xmlns:a16="http://schemas.microsoft.com/office/drawing/2014/main" id="{B6D2BC76-A66A-434A-9AC6-48022715F0B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622289" y="1221236"/>
            <a:ext cx="5354981" cy="472836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sz="2700">
                <a:solidFill>
                  <a:srgbClr val="0168B7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會議標題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840B9722-22DF-6947-AEC2-F0A2E74CA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89226" y="1336472"/>
            <a:ext cx="2908391" cy="24236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383D3D0-32E8-BB4A-BE0A-A6406E6BE8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049" y="192504"/>
            <a:ext cx="1315635" cy="55017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0E4BD53-EB85-9ABD-1D2C-AC6082F6622E}"/>
              </a:ext>
            </a:extLst>
          </p:cNvPr>
          <p:cNvSpPr/>
          <p:nvPr/>
        </p:nvSpPr>
        <p:spPr>
          <a:xfrm>
            <a:off x="0" y="4709371"/>
            <a:ext cx="9144000" cy="434130"/>
          </a:xfrm>
          <a:prstGeom prst="rect">
            <a:avLst/>
          </a:prstGeom>
          <a:solidFill>
            <a:srgbClr val="016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350"/>
          </a:p>
        </p:txBody>
      </p:sp>
      <p:sp>
        <p:nvSpPr>
          <p:cNvPr id="3" name="Rectangle 944">
            <a:extLst>
              <a:ext uri="{FF2B5EF4-FFF2-40B4-BE49-F238E27FC236}">
                <a16:creationId xmlns:a16="http://schemas.microsoft.com/office/drawing/2014/main" id="{50B53384-3A34-64EB-A232-3BF793B5455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880789" y="969010"/>
            <a:ext cx="307181" cy="7938820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 wrap="none" anchor="ctr"/>
          <a:lstStyle>
            <a:lvl1pPr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9pPr>
          </a:lstStyle>
          <a:p>
            <a:pPr eaLnBrk="1" hangingPunct="1"/>
            <a:r>
              <a:rPr lang="zh-TW" altLang="en-US" sz="750" dirty="0">
                <a:solidFill>
                  <a:schemeClr val="bg1"/>
                </a:solidFill>
                <a:latin typeface="+mn-ea"/>
                <a:ea typeface="+mn-ea"/>
              </a:rPr>
              <a:t>本資料為盛群半導體股份有限公司專有之財產，非經書面許可不准透露或使用本資料，亦不准複印、複製或轉變成任何其他形式使用。                                            </a:t>
            </a:r>
            <a:r>
              <a:rPr lang="en-US" altLang="zh-TW" sz="750" b="1" dirty="0">
                <a:solidFill>
                  <a:schemeClr val="bg1"/>
                </a:solidFill>
                <a:effectLst/>
                <a:latin typeface="+mn-ea"/>
                <a:ea typeface="+mn-ea"/>
              </a:rPr>
              <a:t>(</a:t>
            </a:r>
            <a:r>
              <a:rPr lang="zh-TW" altLang="en-US" sz="750" b="1" dirty="0">
                <a:solidFill>
                  <a:schemeClr val="bg1"/>
                </a:solidFill>
                <a:effectLst/>
                <a:latin typeface="+mn-ea"/>
                <a:ea typeface="+mn-ea"/>
              </a:rPr>
              <a:t>機密 </a:t>
            </a:r>
            <a:r>
              <a:rPr lang="en-US" altLang="zh-TW" sz="750" b="1" dirty="0">
                <a:solidFill>
                  <a:schemeClr val="bg1"/>
                </a:solidFill>
                <a:effectLst/>
                <a:latin typeface="+mn-ea"/>
                <a:ea typeface="+mn-ea"/>
              </a:rPr>
              <a:t>/ Confidential)</a:t>
            </a:r>
            <a:endParaRPr lang="zh-TW" altLang="en-US" sz="750" b="1" dirty="0">
              <a:solidFill>
                <a:schemeClr val="bg1"/>
              </a:solidFill>
              <a:effectLst/>
              <a:latin typeface="+mn-ea"/>
              <a:ea typeface="+mn-ea"/>
            </a:endParaRPr>
          </a:p>
          <a:p>
            <a:pPr eaLnBrk="1" hangingPunct="1"/>
            <a:r>
              <a:rPr lang="en-US" altLang="zh-TW" sz="750" dirty="0">
                <a:solidFill>
                  <a:schemeClr val="bg1"/>
                </a:solidFill>
              </a:rPr>
              <a:t>The information contained herein is the exclusive property of HOLTEK and shall  not be distributed, reproduced, or disclosed in whole or in part without prior written permission of HOLTEK.                             V1.00</a:t>
            </a:r>
            <a:endParaRPr lang="en-US" altLang="zh-TW" sz="750" b="1" dirty="0">
              <a:solidFill>
                <a:schemeClr val="bg1"/>
              </a:solidFill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58926713-55BE-5F86-5366-BEB7C612B15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179652" y="4711337"/>
            <a:ext cx="832914" cy="237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0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6A8CF22-23BE-584F-A4D7-1753C8920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43" y="493063"/>
            <a:ext cx="1227118" cy="208985"/>
          </a:xfrm>
          <a:prstGeom prst="rect">
            <a:avLst/>
          </a:prstGeom>
        </p:spPr>
      </p:pic>
      <p:sp>
        <p:nvSpPr>
          <p:cNvPr id="21" name="标题占位符 1">
            <a:extLst>
              <a:ext uri="{FF2B5EF4-FFF2-40B4-BE49-F238E27FC236}">
                <a16:creationId xmlns:a16="http://schemas.microsoft.com/office/drawing/2014/main" id="{CC07BDFC-0492-074B-A74B-912F8797D0C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379460" y="332954"/>
            <a:ext cx="6020242" cy="5292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>
              <a:defRPr sz="19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標題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AEB8131-C03B-3F45-9142-27F8858488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049" y="192504"/>
            <a:ext cx="1315635" cy="550175"/>
          </a:xfrm>
          <a:prstGeom prst="rect">
            <a:avLst/>
          </a:prstGeom>
        </p:spPr>
      </p:pic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651D52FB-F411-FDB4-6246-F7A435391D3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179652" y="4708265"/>
            <a:ext cx="832914" cy="237600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8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A4E8447-0617-F843-B4B8-5473BF4F7C50}"/>
              </a:ext>
            </a:extLst>
          </p:cNvPr>
          <p:cNvSpPr/>
          <p:nvPr/>
        </p:nvSpPr>
        <p:spPr>
          <a:xfrm>
            <a:off x="-89453" y="-69573"/>
            <a:ext cx="9322905" cy="54273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35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B112D6A-A2E4-8E4C-A3AC-7BD5826F29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978937" y="-527925"/>
            <a:ext cx="10931249" cy="5619936"/>
          </a:xfrm>
          <a:prstGeom prst="rect">
            <a:avLst/>
          </a:prstGeom>
        </p:spPr>
      </p:pic>
      <p:sp>
        <p:nvSpPr>
          <p:cNvPr id="15" name="標題 1">
            <a:extLst>
              <a:ext uri="{FF2B5EF4-FFF2-40B4-BE49-F238E27FC236}">
                <a16:creationId xmlns:a16="http://schemas.microsoft.com/office/drawing/2014/main" id="{4506FBE2-8A58-BC40-AEDF-E2B9840BA3B9}"/>
              </a:ext>
            </a:extLst>
          </p:cNvPr>
          <p:cNvSpPr txBox="1">
            <a:spLocks/>
          </p:cNvSpPr>
          <p:nvPr/>
        </p:nvSpPr>
        <p:spPr>
          <a:xfrm>
            <a:off x="2044430" y="2085258"/>
            <a:ext cx="5055140" cy="972985"/>
          </a:xfrm>
          <a:prstGeom prst="rect">
            <a:avLst/>
          </a:prstGeom>
        </p:spPr>
        <p:txBody>
          <a:bodyPr vert="horz" lIns="67628" tIns="35243" rIns="67628" bIns="35243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en-US" altLang="zh-TW" sz="5400" b="1" u="none" strike="noStrike" kern="1200" cap="none" spc="225" normalizeH="0" baseline="0" dirty="0">
                <a:solidFill>
                  <a:srgbClr val="0168B7"/>
                </a:solidFill>
                <a:uFillTx/>
                <a:latin typeface="+mn-ea"/>
                <a:ea typeface="+mn-ea"/>
                <a:cs typeface="+mj-cs"/>
              </a:rPr>
              <a:t>Thank You</a:t>
            </a:r>
            <a:endParaRPr lang="zh-TW" altLang="en-US" sz="5400" b="1" u="none" strike="noStrike" kern="1200" cap="none" spc="225" normalizeH="0" baseline="0" dirty="0">
              <a:solidFill>
                <a:srgbClr val="0168B7"/>
              </a:solidFill>
              <a:uFillTx/>
              <a:latin typeface="+mn-ea"/>
              <a:ea typeface="+mn-ea"/>
              <a:cs typeface="+mj-cs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7D2827B4-881E-F243-BEBA-8680BA97859D}"/>
              </a:ext>
            </a:extLst>
          </p:cNvPr>
          <p:cNvGrpSpPr/>
          <p:nvPr/>
        </p:nvGrpSpPr>
        <p:grpSpPr>
          <a:xfrm>
            <a:off x="-1056909" y="2450568"/>
            <a:ext cx="11257819" cy="242366"/>
            <a:chOff x="-1409540" y="3267422"/>
            <a:chExt cx="15010425" cy="323155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E869CC78-98ED-5643-B35C-5F9F81C493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409540" y="3267422"/>
              <a:ext cx="3877855" cy="323155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F346C313-7BAE-B040-B08E-D27A1AB6C6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9723685" y="3267422"/>
              <a:ext cx="3877200" cy="281932"/>
            </a:xfrm>
            <a:prstGeom prst="rect">
              <a:avLst/>
            </a:prstGeom>
          </p:spPr>
        </p:pic>
      </p:grpSp>
      <p:pic>
        <p:nvPicPr>
          <p:cNvPr id="11" name="圖片 10">
            <a:extLst>
              <a:ext uri="{FF2B5EF4-FFF2-40B4-BE49-F238E27FC236}">
                <a16:creationId xmlns:a16="http://schemas.microsoft.com/office/drawing/2014/main" id="{FBD384E6-F4C1-0744-9C18-0D73B67750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049" y="192504"/>
            <a:ext cx="1315635" cy="55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4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892DA89-E6C0-1771-2556-6C0C76C14D64}"/>
              </a:ext>
            </a:extLst>
          </p:cNvPr>
          <p:cNvSpPr/>
          <p:nvPr/>
        </p:nvSpPr>
        <p:spPr>
          <a:xfrm>
            <a:off x="0" y="4709371"/>
            <a:ext cx="9144000" cy="434130"/>
          </a:xfrm>
          <a:prstGeom prst="rect">
            <a:avLst/>
          </a:prstGeom>
          <a:solidFill>
            <a:srgbClr val="016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350"/>
          </a:p>
        </p:txBody>
      </p:sp>
      <p:sp>
        <p:nvSpPr>
          <p:cNvPr id="8" name="Rectangle 944">
            <a:extLst>
              <a:ext uri="{FF2B5EF4-FFF2-40B4-BE49-F238E27FC236}">
                <a16:creationId xmlns:a16="http://schemas.microsoft.com/office/drawing/2014/main" id="{BB92A0CC-0127-EAFC-894E-F9FA93B1AE9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880789" y="969010"/>
            <a:ext cx="307181" cy="7938820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 wrap="none" anchor="ctr"/>
          <a:lstStyle>
            <a:lvl1pPr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9pPr>
          </a:lstStyle>
          <a:p>
            <a:pPr eaLnBrk="1" hangingPunct="1"/>
            <a:r>
              <a:rPr lang="zh-TW" altLang="en-US" sz="750" dirty="0">
                <a:solidFill>
                  <a:schemeClr val="bg1"/>
                </a:solidFill>
                <a:latin typeface="+mn-ea"/>
                <a:ea typeface="+mn-ea"/>
              </a:rPr>
              <a:t>本資料為盛群半導體股份有限公司專有之財產，非經書面許可不准透露或使用本資料，亦不准複印、複製或轉變成任何其他形式使用。                                            </a:t>
            </a:r>
            <a:r>
              <a:rPr lang="en-US" altLang="zh-TW" sz="750" b="1" dirty="0">
                <a:solidFill>
                  <a:schemeClr val="bg1"/>
                </a:solidFill>
                <a:effectLst/>
                <a:latin typeface="+mn-ea"/>
                <a:ea typeface="+mn-ea"/>
              </a:rPr>
              <a:t>(</a:t>
            </a:r>
            <a:r>
              <a:rPr lang="zh-TW" altLang="en-US" sz="750" b="1" dirty="0">
                <a:solidFill>
                  <a:schemeClr val="bg1"/>
                </a:solidFill>
                <a:effectLst/>
                <a:latin typeface="+mn-ea"/>
                <a:ea typeface="+mn-ea"/>
              </a:rPr>
              <a:t>機密 </a:t>
            </a:r>
            <a:r>
              <a:rPr lang="en-US" altLang="zh-TW" sz="750" b="1" dirty="0">
                <a:solidFill>
                  <a:schemeClr val="bg1"/>
                </a:solidFill>
                <a:effectLst/>
                <a:latin typeface="+mn-ea"/>
                <a:ea typeface="+mn-ea"/>
              </a:rPr>
              <a:t>/ Confidential)</a:t>
            </a:r>
            <a:endParaRPr lang="zh-TW" altLang="en-US" sz="750" b="1" dirty="0">
              <a:solidFill>
                <a:schemeClr val="bg1"/>
              </a:solidFill>
              <a:effectLst/>
              <a:latin typeface="+mn-ea"/>
              <a:ea typeface="+mn-ea"/>
            </a:endParaRPr>
          </a:p>
          <a:p>
            <a:pPr eaLnBrk="1" hangingPunct="1"/>
            <a:r>
              <a:rPr lang="en-US" altLang="zh-TW" sz="750" dirty="0">
                <a:solidFill>
                  <a:schemeClr val="bg1"/>
                </a:solidFill>
              </a:rPr>
              <a:t>The information contained herein is the exclusive property of HOLTEK and shall  not be distributed, reproduced, or disclosed in whole or in part without prior written permission of HOLTEK.                             V1.00 </a:t>
            </a:r>
            <a:endParaRPr lang="en-US" altLang="zh-TW" sz="750" b="1" dirty="0">
              <a:solidFill>
                <a:schemeClr val="bg1"/>
              </a:solidFill>
            </a:endParaRPr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EB965625-F488-9E62-E4A7-2481B906B715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179652" y="4713258"/>
            <a:ext cx="832914" cy="237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1996204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1" u="none" strike="noStrike" kern="1200" cap="none" spc="225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●"/>
        <a:defRPr sz="1350" u="none" strike="noStrike" kern="1200" cap="none" spc="113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450"/>
        </a:spcAft>
        <a:buFont typeface="Arial" panose="020B0604020202020204" pitchFamily="34" charset="0"/>
        <a:buChar char="●"/>
        <a:tabLst>
          <a:tab pos="1207294" algn="l"/>
          <a:tab pos="1207294" algn="l"/>
          <a:tab pos="1207294" algn="l"/>
          <a:tab pos="1207294" algn="l"/>
        </a:tabLst>
        <a:defRPr sz="1200" u="none" strike="noStrike" kern="1200" cap="none" spc="113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450"/>
        </a:spcAft>
        <a:buFont typeface="Arial" panose="020B0604020202020204" pitchFamily="34" charset="0"/>
        <a:buChar char="●"/>
        <a:defRPr sz="1200" u="none" strike="noStrike" kern="1200" cap="none" spc="113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225"/>
        </a:spcAft>
        <a:buFont typeface="Wingdings" panose="05000000000000000000" charset="0"/>
        <a:buChar char=""/>
        <a:defRPr sz="1050" u="none" strike="noStrike" kern="1200" cap="none" spc="113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225"/>
        </a:spcAft>
        <a:buFont typeface="Arial" panose="020B0604020202020204" pitchFamily="34" charset="0"/>
        <a:buChar char="•"/>
        <a:defRPr sz="1050" u="none" strike="noStrike" kern="1200" cap="none" spc="113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28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7041C1-11F3-2C42-A55F-3AA981AAE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289" y="1221236"/>
            <a:ext cx="5908501" cy="472836"/>
          </a:xfrm>
        </p:spPr>
        <p:txBody>
          <a:bodyPr/>
          <a:lstStyle/>
          <a:p>
            <a:pPr algn="ctr"/>
            <a:r>
              <a:rPr kumimoji="1" lang="en-US" altLang="zh-TW" dirty="0"/>
              <a:t>HT32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VSCode</a:t>
            </a:r>
            <a:r>
              <a:rPr kumimoji="1" lang="zh-TW" altLang="en-US" dirty="0"/>
              <a:t>開發環境擴充功能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1B76FE8-9444-CE49-A01C-0DAFE716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pPr algn="r"/>
            <a:fld id="{49AE70B2-8BF9-45C0-BB95-33D1B9D3A854}" type="slidenum">
              <a:rPr lang="zh-CN" altLang="en-US" smtClean="0"/>
              <a:pPr algn="r"/>
              <a:t>1</a:t>
            </a:fld>
            <a:endParaRPr lang="zh-CN" altLang="en-US" dirty="0"/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F946457F-9BF7-A444-B9F7-2666F0119071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622289" y="3004133"/>
            <a:ext cx="3098799" cy="832373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50" dirty="0"/>
              <a:t>報告人：</a:t>
            </a:r>
            <a:r>
              <a:rPr lang="zh-TW" altLang="en-US" sz="1350" dirty="0"/>
              <a:t>蘇麗卿</a:t>
            </a:r>
            <a:endParaRPr lang="en-US" altLang="zh-CN" sz="1350" dirty="0"/>
          </a:p>
          <a:p>
            <a:r>
              <a:rPr lang="zh-CN" altLang="en-US" sz="1350" dirty="0"/>
              <a:t>報告日期：</a:t>
            </a:r>
          </a:p>
        </p:txBody>
      </p:sp>
      <p:sp>
        <p:nvSpPr>
          <p:cNvPr id="5" name="标题占位符 1">
            <a:extLst>
              <a:ext uri="{FF2B5EF4-FFF2-40B4-BE49-F238E27FC236}">
                <a16:creationId xmlns:a16="http://schemas.microsoft.com/office/drawing/2014/main" id="{D8CF790E-B646-3C4E-B83D-F5D9FAB08111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1622289" y="1892677"/>
            <a:ext cx="5354981" cy="880340"/>
          </a:xfrm>
          <a:prstGeom prst="rect">
            <a:avLst/>
          </a:prstGeom>
        </p:spPr>
        <p:txBody>
          <a:bodyPr vert="horz" lIns="67628" tIns="35243" rIns="67628" bIns="35243" rtlCol="0" anchor="t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rgbClr val="0168B7"/>
                </a:solidFill>
                <a:uFillTx/>
                <a:latin typeface="+mn-ea"/>
                <a:ea typeface="+mn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100" dirty="0"/>
              <a:t>產品名稱</a:t>
            </a:r>
            <a:r>
              <a:rPr lang="en-US" altLang="zh-CN" sz="2100" dirty="0"/>
              <a:t>:ht32-vscode</a:t>
            </a:r>
            <a:br>
              <a:rPr lang="en-US" altLang="zh-CN" sz="2100" dirty="0"/>
            </a:br>
            <a:r>
              <a:rPr lang="zh-CN" altLang="en-US" sz="2100" dirty="0"/>
              <a:t>產品型號</a:t>
            </a:r>
            <a:r>
              <a:rPr lang="en-US" altLang="zh-CN" sz="2100" dirty="0"/>
              <a:t>:HT32</a:t>
            </a:r>
            <a:endParaRPr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720417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970EC42-6D04-0C4A-9DAA-462B589FD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4BF9DF2-6D8E-5C4C-A7A6-6EDA84E63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簡介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A61AE0-7EA8-104F-AAFA-4B27E22C146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1043854"/>
            <a:ext cx="8226900" cy="2740125"/>
          </a:xfrm>
          <a:prstGeom prst="rect">
            <a:avLst/>
          </a:prstGeom>
        </p:spPr>
        <p:txBody>
          <a:bodyPr/>
          <a:lstStyle/>
          <a:p>
            <a:r>
              <a:rPr lang="en-US" altLang="zh-TW" b="1" dirty="0" err="1"/>
              <a:t>Holtek</a:t>
            </a:r>
            <a:r>
              <a:rPr lang="en-US" altLang="zh-TW" b="1" dirty="0"/>
              <a:t> HT32 </a:t>
            </a:r>
            <a:r>
              <a:rPr lang="zh-TW" altLang="en-US" b="1" dirty="0"/>
              <a:t>系列 </a:t>
            </a:r>
            <a:r>
              <a:rPr lang="en-US" altLang="zh-TW" b="1" dirty="0"/>
              <a:t>Cortex-M </a:t>
            </a:r>
            <a:r>
              <a:rPr lang="zh-TW" altLang="en-US" b="1" dirty="0"/>
              <a:t>微控制器專用 </a:t>
            </a:r>
            <a:r>
              <a:rPr lang="en-US" altLang="zh-TW" b="1" dirty="0"/>
              <a:t>VS Code Extension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支援 </a:t>
            </a:r>
            <a:r>
              <a:rPr lang="en-US" altLang="zh-TW" dirty="0"/>
              <a:t>HT32 </a:t>
            </a:r>
            <a:r>
              <a:rPr lang="zh-TW" altLang="en-US" dirty="0"/>
              <a:t>全系列（</a:t>
            </a:r>
            <a:r>
              <a:rPr lang="en-US" altLang="zh-TW" dirty="0"/>
              <a:t>Cortex-M0+/M3/M33/M4</a:t>
            </a:r>
            <a:r>
              <a:rPr lang="zh-TW" altLang="en-US" dirty="0"/>
              <a:t>）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建立新專案 </a:t>
            </a:r>
            <a:r>
              <a:rPr lang="en-US" altLang="zh-TW" dirty="0"/>
              <a:t>/ </a:t>
            </a:r>
            <a:r>
              <a:rPr lang="zh-TW" altLang="en-US" dirty="0"/>
              <a:t>匯入 </a:t>
            </a:r>
            <a:r>
              <a:rPr lang="en-US" altLang="zh-TW" dirty="0"/>
              <a:t>Keil </a:t>
            </a:r>
            <a:r>
              <a:rPr lang="en-US" altLang="zh-TW" dirty="0" err="1"/>
              <a:t>uVision</a:t>
            </a:r>
            <a:r>
              <a:rPr lang="en-US" altLang="zh-TW" dirty="0"/>
              <a:t> / </a:t>
            </a:r>
            <a:r>
              <a:rPr lang="zh-TW" altLang="en-US" dirty="0"/>
              <a:t>匯入 </a:t>
            </a:r>
            <a:r>
              <a:rPr lang="en-US" altLang="zh-TW" dirty="0"/>
              <a:t>HT32-IDE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TW" altLang="en-US" dirty="0"/>
              <a:t>一鍵編譯、燒錄、除錯；內建 </a:t>
            </a:r>
            <a:r>
              <a:rPr lang="en-US" altLang="zh-TW" dirty="0" err="1"/>
              <a:t>OpenOCD</a:t>
            </a:r>
            <a:r>
              <a:rPr lang="en-US" altLang="zh-TW" dirty="0"/>
              <a:t> + e-Link32 </a:t>
            </a:r>
            <a:r>
              <a:rPr lang="zh-TW" altLang="en-US" dirty="0"/>
              <a:t>支援</a:t>
            </a:r>
            <a:endParaRPr lang="en-US" altLang="zh-TW" dirty="0"/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zh-TW" altLang="en-US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TW" altLang="en-US" b="1" dirty="0"/>
              <a:t>安裝需求</a:t>
            </a: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610B001C-684A-8E43-9541-92277BEBA69B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B65B4666-E7BE-39E7-0E19-CD66318249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486449"/>
              </p:ext>
            </p:extLst>
          </p:nvPr>
        </p:nvGraphicFramePr>
        <p:xfrm>
          <a:off x="683940" y="2702258"/>
          <a:ext cx="794710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6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/>
                        <a:t>項目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/>
                        <a:t>說明</a:t>
                      </a:r>
                      <a:endParaRPr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/>
                        <a:t>作業系統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/>
                        <a:t>Windows x64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/>
                        <a:t>除錯器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/>
                        <a:t>Holtek</a:t>
                      </a:r>
                      <a:r>
                        <a:rPr sz="1200" dirty="0"/>
                        <a:t> e-Link32 Pro / </a:t>
                      </a:r>
                      <a:r>
                        <a:rPr sz="1200" dirty="0" err="1"/>
                        <a:t>Lite；支援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J-Link、ST-Link</a:t>
                      </a:r>
                      <a:endParaRPr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/>
                        <a:t>FWLib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需要；支援 </a:t>
                      </a:r>
                      <a:r>
                        <a:rPr lang="en-US" altLang="zh-TW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HT32F1xxxx / HT32F4xxxx / HT32F5xxxx / HT32F490x1 / HT32F491x3 / HT32F493x5</a:t>
                      </a:r>
                      <a:endParaRPr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AD0D144A-5D19-B8E6-4DA2-A47162C9418F}"/>
              </a:ext>
            </a:extLst>
          </p:cNvPr>
          <p:cNvSpPr txBox="1"/>
          <p:nvPr/>
        </p:nvSpPr>
        <p:spPr>
          <a:xfrm>
            <a:off x="579863" y="3938522"/>
            <a:ext cx="8133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GCC </a:t>
            </a:r>
            <a:r>
              <a:rPr lang="zh-TW" altLang="en-US" sz="1200" b="1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工具鏈：</a:t>
            </a:r>
            <a:r>
              <a:rPr lang="zh-TW" altLang="en-US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擴充功能啟動時自動偵測；找不到時透過 </a:t>
            </a:r>
            <a:r>
              <a:rPr lang="en-US" altLang="zh-TW" sz="1200" i="0" dirty="0" err="1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winget</a:t>
            </a:r>
            <a:r>
              <a:rPr lang="en-US" altLang="zh-TW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自動安裝 </a:t>
            </a:r>
            <a:endParaRPr lang="en-US" altLang="zh-TW" sz="1200" i="0" dirty="0">
              <a:solidFill>
                <a:srgbClr val="59636E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b="1" i="0" dirty="0" err="1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OpenOCD</a:t>
            </a:r>
            <a:r>
              <a:rPr lang="zh-TW" altLang="en-US" sz="1200" b="1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zh-TW" altLang="en-US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已內建，無需另外安裝 </a:t>
            </a:r>
            <a:r>
              <a:rPr lang="en-US" altLang="zh-TW" sz="1200" i="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2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</a:t>
            </a:r>
            <a:r>
              <a:rPr lang="en-US" altLang="zh-TW" sz="1200" i="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HT32-IDE</a:t>
            </a:r>
            <a:r>
              <a:rPr lang="zh-TW" altLang="en-US" sz="1200" i="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之元件</a:t>
            </a:r>
            <a:r>
              <a:rPr lang="en-US" altLang="zh-TW" sz="1200" i="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en-US" altLang="zh-TW" sz="1200" b="1" i="0" dirty="0">
              <a:solidFill>
                <a:srgbClr val="FF0000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1200" b="1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相依擴充功能：</a:t>
            </a:r>
            <a:r>
              <a:rPr lang="zh-TW" altLang="en-US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安裝時自動一併安裝 </a:t>
            </a:r>
            <a:r>
              <a:rPr lang="en-US" altLang="zh-TW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Cortex-Debug</a:t>
            </a:r>
            <a:r>
              <a:rPr lang="zh-TW" altLang="en-US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（除錯介面）與 </a:t>
            </a:r>
            <a:r>
              <a:rPr lang="en-US" altLang="zh-TW" sz="1200" i="0" dirty="0" err="1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Holtek</a:t>
            </a:r>
            <a:r>
              <a:rPr lang="en-US" altLang="zh-TW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HT32 Configuration Wizard</a:t>
            </a:r>
            <a:r>
              <a:rPr lang="zh-TW" altLang="en-US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（設定精靈）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25749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0A6AC-BCC8-2761-A4CC-446DB5E76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2303998-846E-C636-F786-6F790223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2481556-C537-227D-733A-48355FCE9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介面介紹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AF096A49-5B76-398B-F686-EDBA5CE60AEF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2249831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6" name="圖片 5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8AFB231C-7F45-31E9-226F-26B41E2E1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202" y="1114235"/>
            <a:ext cx="5818988" cy="309133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0C8D3D9-A6E0-4C9D-3B3A-AA2506119284}"/>
              </a:ext>
            </a:extLst>
          </p:cNvPr>
          <p:cNvSpPr/>
          <p:nvPr/>
        </p:nvSpPr>
        <p:spPr>
          <a:xfrm>
            <a:off x="2866729" y="1251682"/>
            <a:ext cx="191264" cy="1462751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36B289-21F5-5EF9-5247-04F403CA3713}"/>
              </a:ext>
            </a:extLst>
          </p:cNvPr>
          <p:cNvSpPr/>
          <p:nvPr/>
        </p:nvSpPr>
        <p:spPr>
          <a:xfrm>
            <a:off x="3114760" y="1251682"/>
            <a:ext cx="1097475" cy="2780676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8598863-3271-57FB-3A62-261AA5F714EA}"/>
              </a:ext>
            </a:extLst>
          </p:cNvPr>
          <p:cNvSpPr/>
          <p:nvPr/>
        </p:nvSpPr>
        <p:spPr>
          <a:xfrm>
            <a:off x="2866729" y="4099813"/>
            <a:ext cx="5843934" cy="137447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1A6A01-C6B0-477D-8676-AA5F10D2EF75}"/>
              </a:ext>
            </a:extLst>
          </p:cNvPr>
          <p:cNvSpPr/>
          <p:nvPr/>
        </p:nvSpPr>
        <p:spPr>
          <a:xfrm>
            <a:off x="4269002" y="1254575"/>
            <a:ext cx="4035549" cy="2780676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B2B3C02-4463-9DA9-9CE6-361B4575F6DD}"/>
              </a:ext>
            </a:extLst>
          </p:cNvPr>
          <p:cNvSpPr txBox="1"/>
          <p:nvPr/>
        </p:nvSpPr>
        <p:spPr>
          <a:xfrm>
            <a:off x="2825647" y="271322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/>
                </a:solidFill>
              </a:rPr>
              <a:t>A</a:t>
            </a:r>
            <a:endParaRPr lang="zh-TW" altLang="en-US" dirty="0">
              <a:solidFill>
                <a:schemeClr val="bg2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103ED2D-BA88-8166-1B1F-7433A77DA207}"/>
              </a:ext>
            </a:extLst>
          </p:cNvPr>
          <p:cNvSpPr txBox="1"/>
          <p:nvPr/>
        </p:nvSpPr>
        <p:spPr>
          <a:xfrm>
            <a:off x="3536809" y="271443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/>
                </a:solidFill>
              </a:rPr>
              <a:t>B</a:t>
            </a:r>
            <a:endParaRPr lang="zh-TW" altLang="en-US" dirty="0">
              <a:solidFill>
                <a:schemeClr val="bg2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467C34-A536-FDC1-8CA9-7219264028C2}"/>
              </a:ext>
            </a:extLst>
          </p:cNvPr>
          <p:cNvSpPr txBox="1"/>
          <p:nvPr/>
        </p:nvSpPr>
        <p:spPr>
          <a:xfrm>
            <a:off x="6815529" y="271322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/>
                </a:solidFill>
              </a:rPr>
              <a:t>C</a:t>
            </a:r>
            <a:endParaRPr lang="zh-TW" altLang="en-US" dirty="0">
              <a:solidFill>
                <a:schemeClr val="bg2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5506109-B335-41C6-52F9-C5431321F4EE}"/>
              </a:ext>
            </a:extLst>
          </p:cNvPr>
          <p:cNvSpPr txBox="1"/>
          <p:nvPr/>
        </p:nvSpPr>
        <p:spPr>
          <a:xfrm>
            <a:off x="3845867" y="414720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5" name="內容版面配置區 3">
            <a:extLst>
              <a:ext uri="{FF2B5EF4-FFF2-40B4-BE49-F238E27FC236}">
                <a16:creationId xmlns:a16="http://schemas.microsoft.com/office/drawing/2014/main" id="{CA1896C9-A0EE-E9CC-3C18-8FB3AE1BB078}"/>
              </a:ext>
            </a:extLst>
          </p:cNvPr>
          <p:cNvSpPr txBox="1">
            <a:spLocks/>
          </p:cNvSpPr>
          <p:nvPr/>
        </p:nvSpPr>
        <p:spPr>
          <a:xfrm>
            <a:off x="408541" y="1170195"/>
            <a:ext cx="2312580" cy="159670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●"/>
              <a:defRPr sz="13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tabLst>
                <a:tab pos="1207294" algn="l"/>
                <a:tab pos="1207294" algn="l"/>
                <a:tab pos="1207294" algn="l"/>
                <a:tab pos="1207294" algn="l"/>
              </a:tabLst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Wingdings" panose="05000000000000000000" charset="0"/>
              <a:buChar char="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/>
              <a:t>A: Activity Bar</a:t>
            </a:r>
          </a:p>
          <a:p>
            <a:r>
              <a:rPr lang="en-US" altLang="zh-TW" b="1" dirty="0"/>
              <a:t>B: Primary Side Bar</a:t>
            </a:r>
          </a:p>
          <a:p>
            <a:r>
              <a:rPr lang="en-US" altLang="zh-TW" b="1" dirty="0"/>
              <a:t>C: Editor</a:t>
            </a:r>
          </a:p>
          <a:p>
            <a:r>
              <a:rPr lang="en-US" altLang="zh-TW" b="1" dirty="0"/>
              <a:t>D: Status Bar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7677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83F84-C3BB-0B31-B23F-38AD22D6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8333CD-552A-FE83-6749-CE2743BBF4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872872"/>
            <a:ext cx="8226900" cy="3602486"/>
          </a:xfrm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從 </a:t>
            </a:r>
            <a:r>
              <a:rPr lang="en-US" altLang="zh-TW" b="1" dirty="0"/>
              <a:t>.</a:t>
            </a:r>
            <a:r>
              <a:rPr lang="en-US" altLang="zh-TW" b="1" dirty="0" err="1"/>
              <a:t>vsix</a:t>
            </a:r>
            <a:r>
              <a:rPr lang="en-US" altLang="zh-TW" b="1" dirty="0"/>
              <a:t> </a:t>
            </a:r>
            <a:r>
              <a:rPr lang="zh-TW" altLang="en-US" b="1" dirty="0"/>
              <a:t>安裝</a:t>
            </a:r>
            <a:endParaRPr lang="en-US" altLang="zh-TW" b="1" dirty="0"/>
          </a:p>
          <a:p>
            <a:pPr marL="342900" lvl="1" indent="0">
              <a:buNone/>
            </a:pPr>
            <a:r>
              <a:rPr lang="en-US" altLang="zh-TW" dirty="0"/>
              <a:t>1. VS Code → Extensions → ... → </a:t>
            </a:r>
            <a:r>
              <a:rPr lang="en-US" altLang="zh-TW" b="1" dirty="0"/>
              <a:t>Install from VSIX...</a:t>
            </a:r>
            <a:endParaRPr lang="en-US" altLang="zh-TW" dirty="0"/>
          </a:p>
          <a:p>
            <a:pPr marL="342900" lvl="1" indent="0">
              <a:buNone/>
            </a:pPr>
            <a:r>
              <a:rPr lang="en-US" altLang="zh-TW" dirty="0"/>
              <a:t>2. </a:t>
            </a:r>
            <a:r>
              <a:rPr lang="zh-TW" altLang="en-US" dirty="0"/>
              <a:t>選取 </a:t>
            </a:r>
            <a:r>
              <a:rPr lang="en-US" altLang="zh-TW" dirty="0"/>
              <a:t>`ht32-vscode-x.x.x.vsix`</a:t>
            </a:r>
          </a:p>
          <a:p>
            <a:pPr marL="342900" lvl="1" indent="0">
              <a:buNone/>
            </a:pPr>
            <a:endParaRPr lang="en-US" altLang="zh-TW" dirty="0"/>
          </a:p>
          <a:p>
            <a:r>
              <a:rPr lang="zh-TW" altLang="en-US" b="1" dirty="0"/>
              <a:t>從 </a:t>
            </a:r>
            <a:r>
              <a:rPr lang="en-US" altLang="zh-TW" b="1" dirty="0"/>
              <a:t>Marketplace </a:t>
            </a:r>
            <a:r>
              <a:rPr lang="zh-TW" altLang="en-US" b="1" dirty="0"/>
              <a:t>安裝</a:t>
            </a:r>
            <a:endParaRPr lang="en-US" altLang="zh-TW" b="1" dirty="0"/>
          </a:p>
          <a:p>
            <a:pPr marL="342900" lvl="1" indent="0">
              <a:buNone/>
            </a:pPr>
            <a:r>
              <a:rPr lang="en-US" altLang="zh-TW" dirty="0"/>
              <a:t>1. Extensions 搜尋欄輸入 Holtek HT32 VS Code Extension</a:t>
            </a:r>
          </a:p>
          <a:p>
            <a:pPr marL="342900" lvl="1" indent="0">
              <a:buNone/>
            </a:pPr>
            <a:r>
              <a:rPr lang="en-US" altLang="zh-TW" dirty="0"/>
              <a:t>2. </a:t>
            </a:r>
            <a:r>
              <a:rPr lang="zh-TW" altLang="en-US" dirty="0"/>
              <a:t>點 </a:t>
            </a:r>
            <a:r>
              <a:rPr lang="en-US" altLang="zh-TW" b="1" dirty="0"/>
              <a:t>Install</a:t>
            </a:r>
            <a:endParaRPr lang="en-US" altLang="zh-TW" dirty="0"/>
          </a:p>
          <a:p>
            <a:pPr marL="342900" lvl="1" indent="0">
              <a:buNone/>
            </a:pPr>
            <a:endParaRPr lang="en-US" altLang="zh-TW" dirty="0"/>
          </a:p>
          <a:p>
            <a:endParaRPr lang="zh-TW" altLang="en-US" dirty="0"/>
          </a:p>
          <a:p>
            <a:pPr marL="34290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pic>
        <p:nvPicPr>
          <p:cNvPr id="11" name="圖片 10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C9C86DAC-0C69-F8C9-7DCC-CCD464BE0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852" y="2872200"/>
            <a:ext cx="2287729" cy="17742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A1CBE55-CD70-6B12-B760-706F7830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9CAF03F-10E6-16D2-BF32-590EF802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安裝</a:t>
            </a:r>
            <a:r>
              <a:rPr kumimoji="1" lang="en-US" altLang="zh-TW" dirty="0"/>
              <a:t>Extension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AFCDA90-4917-85AE-8E97-4E74E3E4342C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5F18947-144A-943F-E780-0929E03B8EBE}"/>
              </a:ext>
            </a:extLst>
          </p:cNvPr>
          <p:cNvSpPr/>
          <p:nvPr/>
        </p:nvSpPr>
        <p:spPr>
          <a:xfrm>
            <a:off x="3917454" y="4232935"/>
            <a:ext cx="401444" cy="30468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EFE667A-3CA4-4A5B-4F79-9A508E3FAB51}"/>
              </a:ext>
            </a:extLst>
          </p:cNvPr>
          <p:cNvSpPr/>
          <p:nvPr/>
        </p:nvSpPr>
        <p:spPr>
          <a:xfrm>
            <a:off x="2038944" y="4306745"/>
            <a:ext cx="401444" cy="30468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B904D370-E940-6367-2AD0-DCE8CEA34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412" y="977705"/>
            <a:ext cx="3450866" cy="1600200"/>
          </a:xfrm>
          <a:prstGeom prst="rect">
            <a:avLst/>
          </a:prstGeom>
        </p:spPr>
      </p:pic>
      <p:pic>
        <p:nvPicPr>
          <p:cNvPr id="6" name="圖片 5" descr="一張含有 文字, 軟體, 電腦圖示, 作業系統 的圖片&#10;&#10;AI 產生的內容可能不正確。">
            <a:extLst>
              <a:ext uri="{FF2B5EF4-FFF2-40B4-BE49-F238E27FC236}">
                <a16:creationId xmlns:a16="http://schemas.microsoft.com/office/drawing/2014/main" id="{7A5A85C5-DD55-FE63-2903-AF281DC22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412" y="2713862"/>
            <a:ext cx="3432924" cy="188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1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1FCFF-7B23-917B-A53F-49127CC7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D8F9F64-AE35-2819-8823-1D8C35A4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7F81215-BA51-A3FD-F305-F207834F7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介面介紹</a:t>
            </a:r>
            <a:r>
              <a:rPr lang="en-US" altLang="zh-TW" dirty="0"/>
              <a:t>(1)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F07A2F-B2D1-3E69-19BB-828FECB4A1A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1110454"/>
            <a:ext cx="5433959" cy="1878073"/>
          </a:xfrm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專案未開啟</a:t>
            </a:r>
            <a:endParaRPr lang="en-US" altLang="zh-TW" b="1" dirty="0"/>
          </a:p>
          <a:p>
            <a:pPr lvl="1"/>
            <a:r>
              <a:rPr lang="zh-TW" altLang="en-US" dirty="0"/>
              <a:t>安裝後，左側 </a:t>
            </a:r>
            <a:r>
              <a:rPr lang="en-US" altLang="zh-TW" dirty="0"/>
              <a:t>Activity Bar </a:t>
            </a:r>
            <a:r>
              <a:rPr lang="zh-TW" altLang="en-US" dirty="0"/>
              <a:t>出現 </a:t>
            </a:r>
            <a:r>
              <a:rPr lang="en-US" altLang="zh-TW" b="1" dirty="0"/>
              <a:t>HT32 </a:t>
            </a:r>
            <a:r>
              <a:rPr lang="zh-TW" altLang="en-US" b="1" dirty="0"/>
              <a:t>圖示</a:t>
            </a:r>
            <a:r>
              <a:rPr lang="zh-TW" altLang="en-US" dirty="0"/>
              <a:t>，點擊展開 </a:t>
            </a:r>
            <a:r>
              <a:rPr lang="en-US" altLang="zh-TW" dirty="0"/>
              <a:t>HT32 </a:t>
            </a:r>
            <a:r>
              <a:rPr lang="zh-TW" altLang="en-US" dirty="0"/>
              <a:t>面板。</a:t>
            </a:r>
          </a:p>
          <a:p>
            <a:pPr lvl="1"/>
            <a:r>
              <a:rPr lang="zh-TW" altLang="en-US" dirty="0"/>
              <a:t>專案未開啟時顯示 </a:t>
            </a:r>
            <a:r>
              <a:rPr lang="en-US" altLang="zh-TW" b="1" dirty="0"/>
              <a:t>Create / Open / Convert</a:t>
            </a:r>
            <a:r>
              <a:rPr lang="en-US" altLang="zh-TW" dirty="0"/>
              <a:t> </a:t>
            </a:r>
            <a:r>
              <a:rPr lang="zh-TW" altLang="en-US" dirty="0"/>
              <a:t>按鈕；</a:t>
            </a:r>
            <a:endParaRPr lang="en-US" altLang="zh-TW" dirty="0"/>
          </a:p>
          <a:p>
            <a:pPr lvl="1"/>
            <a:r>
              <a:rPr lang="zh-TW" altLang="en-US" dirty="0"/>
              <a:t>若有歷史記錄，下方會列出 </a:t>
            </a:r>
            <a:r>
              <a:rPr lang="zh-TW" altLang="en-US" b="1" dirty="0"/>
              <a:t>**</a:t>
            </a:r>
            <a:r>
              <a:rPr lang="en-US" altLang="zh-TW" b="1" dirty="0"/>
              <a:t>Recent Projects**</a:t>
            </a:r>
            <a:r>
              <a:rPr lang="zh-TW" altLang="en-US" dirty="0"/>
              <a:t>，點擊即可直接開啟。</a:t>
            </a:r>
          </a:p>
          <a:p>
            <a:pPr marL="34290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0054A80C-5773-AB1B-CEC9-37E653B4748E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8" name="圖片 7" descr="一張含有 文字, 螢幕擷取畫面, 軟體, 設計 的圖片&#10;&#10;AI 產生的內容可能不正確。">
            <a:extLst>
              <a:ext uri="{FF2B5EF4-FFF2-40B4-BE49-F238E27FC236}">
                <a16:creationId xmlns:a16="http://schemas.microsoft.com/office/drawing/2014/main" id="{5920C7A1-2A1B-AB87-E7A9-FFB7DD206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110454"/>
            <a:ext cx="2466890" cy="319278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0F28388-7590-70E5-A824-B4DBD4D9DF76}"/>
              </a:ext>
            </a:extLst>
          </p:cNvPr>
          <p:cNvSpPr/>
          <p:nvPr/>
        </p:nvSpPr>
        <p:spPr>
          <a:xfrm>
            <a:off x="6244218" y="3131997"/>
            <a:ext cx="282962" cy="332315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5E66F5-DE7F-64A4-FFE0-318EDEEDB4D8}"/>
              </a:ext>
            </a:extLst>
          </p:cNvPr>
          <p:cNvSpPr/>
          <p:nvPr/>
        </p:nvSpPr>
        <p:spPr>
          <a:xfrm>
            <a:off x="6538098" y="3866888"/>
            <a:ext cx="2092945" cy="370575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5762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C1EAA-653B-2FFA-0281-5B5B2A387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8A564107-BBEA-BE6F-A387-58D13BCFB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750" y="1276370"/>
            <a:ext cx="2715904" cy="242322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8571D49-8F73-3BD8-B8CD-DF5291D26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B4989B-E274-06A0-8BEC-5C5BFC66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介面介紹</a:t>
            </a:r>
            <a:r>
              <a:rPr lang="en-US" altLang="zh-TW" dirty="0"/>
              <a:t>(2)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0F892A3-BB9F-B8F6-6C2B-1DC7F0EF5C8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921834"/>
            <a:ext cx="5433959" cy="3791106"/>
          </a:xfrm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專案已開啟</a:t>
            </a:r>
            <a:r>
              <a:rPr lang="en-US" altLang="zh-TW" b="1" dirty="0"/>
              <a:t>-</a:t>
            </a:r>
            <a:r>
              <a:rPr lang="zh-TW" altLang="en-US" b="1" dirty="0"/>
              <a:t>工具列</a:t>
            </a:r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r>
              <a:rPr lang="zh-TW" altLang="zh-TW" sz="1000" b="1" dirty="0">
                <a:solidFill>
                  <a:srgbClr val="24292E"/>
                </a:solidFill>
                <a:latin typeface="Arial Unicode MS"/>
                <a:ea typeface="SFMono-Regular"/>
              </a:rPr>
              <a:t>···</a:t>
            </a:r>
            <a:r>
              <a:rPr lang="zh-TW" altLang="zh-TW" sz="1400" b="1" dirty="0">
                <a:solidFill>
                  <a:srgbClr val="24292E"/>
                </a:solidFill>
                <a:ea typeface="-apple-system"/>
              </a:rPr>
              <a:t>（更多動作）</a:t>
            </a:r>
            <a:r>
              <a:rPr lang="zh-TW" altLang="zh-TW" sz="1400" dirty="0">
                <a:solidFill>
                  <a:srgbClr val="24292E"/>
                </a:solidFill>
                <a:ea typeface="-apple-system"/>
              </a:rPr>
              <a:t> 選單</a:t>
            </a:r>
            <a:endParaRPr lang="en-US" altLang="zh-TW" b="1" dirty="0"/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en-US" altLang="zh-TW" b="1" dirty="0"/>
          </a:p>
          <a:p>
            <a:pPr marL="34290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5A4D358C-6E77-0C52-EB18-AD0037F868FC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70707D7-2AA1-B043-8671-2FFF05E97C4F}"/>
              </a:ext>
            </a:extLst>
          </p:cNvPr>
          <p:cNvSpPr/>
          <p:nvPr/>
        </p:nvSpPr>
        <p:spPr>
          <a:xfrm>
            <a:off x="6976190" y="1278029"/>
            <a:ext cx="1707009" cy="597471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7633830-B1B2-EB77-6C5C-185C86B10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594150"/>
              </p:ext>
            </p:extLst>
          </p:nvPr>
        </p:nvGraphicFramePr>
        <p:xfrm>
          <a:off x="689406" y="1276370"/>
          <a:ext cx="5352343" cy="208468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243472">
                  <a:extLst>
                    <a:ext uri="{9D8B030D-6E8A-4147-A177-3AD203B41FA5}">
                      <a16:colId xmlns:a16="http://schemas.microsoft.com/office/drawing/2014/main" val="8748889"/>
                    </a:ext>
                  </a:extLst>
                </a:gridCol>
                <a:gridCol w="4108871">
                  <a:extLst>
                    <a:ext uri="{9D8B030D-6E8A-4147-A177-3AD203B41FA5}">
                      <a16:colId xmlns:a16="http://schemas.microsoft.com/office/drawing/2014/main" val="2419053794"/>
                    </a:ext>
                  </a:extLst>
                </a:gridCol>
              </a:tblGrid>
              <a:tr h="267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b="1" dirty="0">
                          <a:effectLst/>
                        </a:rPr>
                        <a:t>按鈕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b="1">
                          <a:effectLst/>
                        </a:rPr>
                        <a:t>功能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90947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Build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>
                          <a:effectLst/>
                        </a:rPr>
                        <a:t>編譯（執行 </a:t>
                      </a:r>
                      <a:r>
                        <a:rPr lang="en-US" altLang="zh-TW" sz="1000">
                          <a:effectLst/>
                        </a:rPr>
                        <a:t>make</a:t>
                      </a:r>
                      <a:r>
                        <a:rPr lang="zh-TW" altLang="en-US" sz="1000">
                          <a:effectLst/>
                        </a:rPr>
                        <a:t>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537961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Debug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>
                          <a:effectLst/>
                        </a:rPr>
                        <a:t>透過 </a:t>
                      </a:r>
                      <a:r>
                        <a:rPr lang="en-US" sz="1000" dirty="0" err="1">
                          <a:effectLst/>
                        </a:rPr>
                        <a:t>OpenOCD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zh-TW" altLang="en-US" sz="1000" dirty="0">
                          <a:effectLst/>
                        </a:rPr>
                        <a:t>啟動 </a:t>
                      </a:r>
                      <a:r>
                        <a:rPr lang="en-US" sz="1000" dirty="0">
                          <a:effectLst/>
                        </a:rPr>
                        <a:t>Cortex-Debug </a:t>
                      </a:r>
                      <a:r>
                        <a:rPr lang="zh-TW" altLang="en-US" sz="1000" dirty="0">
                          <a:effectLst/>
                        </a:rPr>
                        <a:t>除錯（</a:t>
                      </a:r>
                      <a:r>
                        <a:rPr lang="en-US" sz="1000" dirty="0">
                          <a:effectLst/>
                        </a:rPr>
                        <a:t>Flash &amp; Debug </a:t>
                      </a:r>
                      <a:r>
                        <a:rPr lang="zh-TW" altLang="en-US" sz="1000" dirty="0">
                          <a:effectLst/>
                        </a:rPr>
                        <a:t>或 </a:t>
                      </a:r>
                      <a:r>
                        <a:rPr lang="en-US" sz="1000" dirty="0">
                          <a:effectLst/>
                        </a:rPr>
                        <a:t>Attach </a:t>
                      </a:r>
                      <a:r>
                        <a:rPr lang="zh-TW" altLang="en-US" sz="1000" dirty="0">
                          <a:effectLst/>
                        </a:rPr>
                        <a:t>模式）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900797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Clean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>
                          <a:effectLst/>
                        </a:rPr>
                        <a:t>刪除 </a:t>
                      </a:r>
                      <a:r>
                        <a:rPr lang="en-US" sz="1000" dirty="0">
                          <a:effectLst/>
                        </a:rPr>
                        <a:t>build/ </a:t>
                      </a:r>
                      <a:r>
                        <a:rPr lang="zh-TW" altLang="en-US" sz="1000" dirty="0">
                          <a:effectLst/>
                        </a:rPr>
                        <a:t>輸出目錄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29091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Download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>
                          <a:effectLst/>
                        </a:rPr>
                        <a:t>燒錄韌體（不啟動除錯）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636576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Settings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>
                          <a:effectLst/>
                        </a:rPr>
                        <a:t>開啟專案設定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438023633"/>
                  </a:ext>
                </a:extLst>
              </a:tr>
              <a:tr h="445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Generate Build &amp; Debug Config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>
                          <a:effectLst/>
                        </a:rPr>
                        <a:t>重新產生 </a:t>
                      </a:r>
                      <a:r>
                        <a:rPr lang="en-US" sz="1000" dirty="0" err="1">
                          <a:effectLst/>
                        </a:rPr>
                        <a:t>tasks.json</a:t>
                      </a: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zh-TW" altLang="en-US" sz="1000" dirty="0">
                          <a:effectLst/>
                        </a:rPr>
                        <a:t>與 </a:t>
                      </a:r>
                      <a:r>
                        <a:rPr lang="en-US" sz="1000" dirty="0" err="1">
                          <a:effectLst/>
                        </a:rPr>
                        <a:t>launch.json</a:t>
                      </a:r>
                      <a:endParaRPr lang="en-US" sz="10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44690077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FE215C8-410F-EAB6-1E6B-699C58CF8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936034"/>
              </p:ext>
            </p:extLst>
          </p:nvPr>
        </p:nvGraphicFramePr>
        <p:xfrm>
          <a:off x="712052" y="3849026"/>
          <a:ext cx="5329697" cy="97536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220826">
                  <a:extLst>
                    <a:ext uri="{9D8B030D-6E8A-4147-A177-3AD203B41FA5}">
                      <a16:colId xmlns:a16="http://schemas.microsoft.com/office/drawing/2014/main" val="451186447"/>
                    </a:ext>
                  </a:extLst>
                </a:gridCol>
                <a:gridCol w="4108871">
                  <a:extLst>
                    <a:ext uri="{9D8B030D-6E8A-4147-A177-3AD203B41FA5}">
                      <a16:colId xmlns:a16="http://schemas.microsoft.com/office/drawing/2014/main" val="4164850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b="1">
                          <a:effectLst/>
                        </a:rPr>
                        <a:t>項目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b="1" dirty="0">
                          <a:effectLst/>
                        </a:rPr>
                        <a:t>功能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191038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Create Project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>
                          <a:effectLst/>
                        </a:rPr>
                        <a:t>開啟建立專案精靈（可在專案已開啟時使用）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39494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Open Project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>
                          <a:effectLst/>
                        </a:rPr>
                        <a:t>開啟 </a:t>
                      </a:r>
                      <a:r>
                        <a:rPr lang="en-US" altLang="zh-TW" sz="1000">
                          <a:effectLst/>
                        </a:rPr>
                        <a:t>.</a:t>
                      </a:r>
                      <a:r>
                        <a:rPr lang="en-US" sz="1000">
                          <a:effectLst/>
                        </a:rPr>
                        <a:t>ht32vs </a:t>
                      </a:r>
                      <a:r>
                        <a:rPr lang="zh-TW" altLang="en-US" sz="1000">
                          <a:effectLst/>
                        </a:rPr>
                        <a:t>專案檔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306355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Close Project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>
                          <a:effectLst/>
                        </a:rPr>
                        <a:t>關閉目前載入的專案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705994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097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AA32B-A073-F518-5709-0F3278A39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7814EB93-6507-84A7-8282-0DDAB3B36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709" y="938642"/>
            <a:ext cx="2364269" cy="273985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C9F86F0-1B58-C335-5080-DFF07AB9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55F43FE-1B10-7238-7389-ACFDBAAC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介面介紹</a:t>
            </a:r>
            <a:r>
              <a:rPr lang="en-US" altLang="zh-TW" dirty="0"/>
              <a:t>(3)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B2AEE4-3BAB-4AC9-BF11-EC141B9F392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921834"/>
            <a:ext cx="5433959" cy="3791106"/>
          </a:xfrm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專案已開啟</a:t>
            </a:r>
            <a:r>
              <a:rPr lang="en-US" altLang="zh-TW" b="1" dirty="0"/>
              <a:t>-</a:t>
            </a:r>
            <a:r>
              <a:rPr lang="zh-TW" altLang="en-US" b="1" dirty="0"/>
              <a:t>專案檔案樹</a:t>
            </a:r>
            <a:endParaRPr lang="en-US" altLang="zh-TW" b="1" dirty="0"/>
          </a:p>
          <a:p>
            <a:pPr lvl="1"/>
            <a:r>
              <a:rPr lang="en-US" altLang="zh-TW" dirty="0"/>
              <a:t>HT32 </a:t>
            </a:r>
            <a:r>
              <a:rPr lang="zh-TW" altLang="en-US" dirty="0"/>
              <a:t>面板下方顯示專案的原始碼群組結構</a:t>
            </a:r>
            <a:r>
              <a:rPr lang="en-US" altLang="zh-TW" dirty="0"/>
              <a:t>(Source Groups),</a:t>
            </a:r>
            <a:r>
              <a:rPr lang="zh-TW" altLang="en-US" dirty="0"/>
              <a:t>與 </a:t>
            </a:r>
            <a:r>
              <a:rPr lang="en-US" altLang="zh-TW" dirty="0"/>
              <a:t>Keil </a:t>
            </a:r>
            <a:r>
              <a:rPr lang="en-US" altLang="zh-TW" dirty="0" err="1"/>
              <a:t>uVision</a:t>
            </a:r>
            <a:r>
              <a:rPr lang="en-US" altLang="zh-TW" dirty="0"/>
              <a:t> </a:t>
            </a:r>
            <a:r>
              <a:rPr lang="zh-TW" altLang="en-US" dirty="0"/>
              <a:t>的群組概念相同。</a:t>
            </a:r>
            <a:endParaRPr lang="en-US" altLang="zh-TW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右鍵選單支援以下操作：</a:t>
            </a:r>
          </a:p>
          <a:p>
            <a:pPr marL="34290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0402A3E1-B336-E104-ACBA-E70EFE189E2C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92DB296-EF27-4FC5-DD02-6BF6ED672069}"/>
              </a:ext>
            </a:extLst>
          </p:cNvPr>
          <p:cNvSpPr/>
          <p:nvPr/>
        </p:nvSpPr>
        <p:spPr>
          <a:xfrm>
            <a:off x="6780812" y="1701778"/>
            <a:ext cx="2026165" cy="558201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622FB89-268D-A61E-E10A-7AA2365E0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9877"/>
              </p:ext>
            </p:extLst>
          </p:nvPr>
        </p:nvGraphicFramePr>
        <p:xfrm>
          <a:off x="884973" y="2155970"/>
          <a:ext cx="5480732" cy="14919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2307">
                  <a:extLst>
                    <a:ext uri="{9D8B030D-6E8A-4147-A177-3AD203B41FA5}">
                      <a16:colId xmlns:a16="http://schemas.microsoft.com/office/drawing/2014/main" val="4202156106"/>
                    </a:ext>
                  </a:extLst>
                </a:gridCol>
                <a:gridCol w="4118425">
                  <a:extLst>
                    <a:ext uri="{9D8B030D-6E8A-4147-A177-3AD203B41FA5}">
                      <a16:colId xmlns:a16="http://schemas.microsoft.com/office/drawing/2014/main" val="20762198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b="1" dirty="0">
                          <a:effectLst/>
                        </a:rPr>
                        <a:t>對象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b="1">
                          <a:effectLst/>
                        </a:rPr>
                        <a:t>操作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538586779"/>
                  </a:ext>
                </a:extLst>
              </a:tr>
              <a:tr h="224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>
                          <a:effectLst/>
                        </a:rPr>
                        <a:t>樹狀根節點（</a:t>
                      </a:r>
                      <a:r>
                        <a:rPr lang="en-US" altLang="zh-TW" sz="1000">
                          <a:effectLst/>
                        </a:rPr>
                        <a:t>.ht32vs</a:t>
                      </a:r>
                      <a:r>
                        <a:rPr lang="zh-TW" altLang="en-US" sz="1000">
                          <a:effectLst/>
                        </a:rPr>
                        <a:t>）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Rename Project File（</a:t>
                      </a:r>
                      <a:r>
                        <a:rPr lang="zh-TW" altLang="en-US" sz="1000">
                          <a:effectLst/>
                        </a:rPr>
                        <a:t>重新命名）、</a:t>
                      </a:r>
                      <a:r>
                        <a:rPr lang="en-US" sz="1000">
                          <a:effectLst/>
                        </a:rPr>
                        <a:t>Add Project（</a:t>
                      </a:r>
                      <a:r>
                        <a:rPr lang="zh-TW" altLang="en-US" sz="1000">
                          <a:effectLst/>
                        </a:rPr>
                        <a:t>新增子專案）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053702740"/>
                  </a:ext>
                </a:extLst>
              </a:tr>
              <a:tr h="364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>
                          <a:effectLst/>
                        </a:rPr>
                        <a:t>子專案節點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Add Group（</a:t>
                      </a:r>
                      <a:r>
                        <a:rPr lang="zh-TW" altLang="en-US" sz="1000">
                          <a:effectLst/>
                        </a:rPr>
                        <a:t>新增群組）、</a:t>
                      </a:r>
                      <a:r>
                        <a:rPr lang="en-US" sz="1000">
                          <a:effectLst/>
                        </a:rPr>
                        <a:t>Remove Project（</a:t>
                      </a:r>
                      <a:r>
                        <a:rPr lang="zh-TW" altLang="en-US" sz="1000">
                          <a:effectLst/>
                        </a:rPr>
                        <a:t>從 </a:t>
                      </a:r>
                      <a:r>
                        <a:rPr lang="en-US" sz="1000">
                          <a:effectLst/>
                        </a:rPr>
                        <a:t>workspace </a:t>
                      </a:r>
                      <a:r>
                        <a:rPr lang="zh-TW" altLang="en-US" sz="1000">
                          <a:effectLst/>
                        </a:rPr>
                        <a:t>移除）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042970037"/>
                  </a:ext>
                </a:extLst>
              </a:tr>
              <a:tr h="224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>
                          <a:effectLst/>
                        </a:rPr>
                        <a:t>群組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Add Files to Group（</a:t>
                      </a:r>
                      <a:r>
                        <a:rPr lang="zh-TW" altLang="en-US" sz="1000">
                          <a:effectLst/>
                        </a:rPr>
                        <a:t>新增檔案）、</a:t>
                      </a:r>
                      <a:r>
                        <a:rPr lang="en-US" sz="1000">
                          <a:effectLst/>
                        </a:rPr>
                        <a:t>Remove Group（</a:t>
                      </a:r>
                      <a:r>
                        <a:rPr lang="zh-TW" altLang="en-US" sz="1000">
                          <a:effectLst/>
                        </a:rPr>
                        <a:t>移除群組）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601026971"/>
                  </a:ext>
                </a:extLst>
              </a:tr>
              <a:tr h="224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>
                          <a:effectLst/>
                        </a:rPr>
                        <a:t>檔案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Remove from Group（</a:t>
                      </a:r>
                      <a:r>
                        <a:rPr lang="zh-TW" altLang="en-US" sz="1000" dirty="0">
                          <a:effectLst/>
                        </a:rPr>
                        <a:t>從群組移除）、</a:t>
                      </a:r>
                      <a:r>
                        <a:rPr lang="en-US" sz="1000" dirty="0">
                          <a:effectLst/>
                        </a:rPr>
                        <a:t>Delete File（</a:t>
                      </a:r>
                      <a:r>
                        <a:rPr lang="zh-TW" altLang="en-US" sz="1000" dirty="0">
                          <a:effectLst/>
                        </a:rPr>
                        <a:t>從磁碟刪除）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212044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608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11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90C024DD-FC5A-8884-60E2-17B5BF22F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460" y="332954"/>
            <a:ext cx="6020242" cy="529200"/>
          </a:xfrm>
        </p:spPr>
        <p:txBody>
          <a:bodyPr/>
          <a:lstStyle/>
          <a:p>
            <a:r>
              <a:rPr lang="zh-TW" altLang="en-US" dirty="0"/>
              <a:t>專案檔</a:t>
            </a:r>
            <a:r>
              <a:rPr lang="en-US" altLang="zh-TW" dirty="0"/>
              <a:t>(.ht32vs)</a:t>
            </a:r>
            <a:endParaRPr kumimoji="1" lang="zh-TW" altLang="en-US" dirty="0"/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E4B692FA-3C27-C9A3-0656-C80C819D5F84}"/>
              </a:ext>
            </a:extLst>
          </p:cNvPr>
          <p:cNvSpPr txBox="1">
            <a:spLocks/>
          </p:cNvSpPr>
          <p:nvPr/>
        </p:nvSpPr>
        <p:spPr>
          <a:xfrm>
            <a:off x="877229" y="1192230"/>
            <a:ext cx="7463883" cy="247931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●"/>
              <a:defRPr sz="13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tabLst>
                <a:tab pos="1207294" algn="l"/>
                <a:tab pos="1207294" algn="l"/>
                <a:tab pos="1207294" algn="l"/>
                <a:tab pos="1207294" algn="l"/>
              </a:tabLst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Wingdings" panose="05000000000000000000" charset="0"/>
              <a:buChar char="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每個 </a:t>
            </a:r>
            <a:r>
              <a:rPr lang="en-US" altLang="zh-TW" dirty="0"/>
              <a:t>HT32 </a:t>
            </a:r>
            <a:r>
              <a:rPr lang="zh-TW" altLang="en-US" dirty="0"/>
              <a:t>專案都會對應一個 </a:t>
            </a:r>
            <a:r>
              <a:rPr lang="en-US" altLang="zh-TW" b="1" dirty="0"/>
              <a:t>.ht32vs</a:t>
            </a:r>
            <a:r>
              <a:rPr lang="zh-TW" altLang="en-US" b="1" dirty="0"/>
              <a:t> 專案檔</a:t>
            </a:r>
            <a:r>
              <a:rPr lang="zh-TW" altLang="en-US" dirty="0"/>
              <a:t>（儲存在 </a:t>
            </a:r>
            <a:r>
              <a:rPr lang="en-US" altLang="zh-TW" dirty="0"/>
              <a:t>HT32_VSCode/</a:t>
            </a:r>
            <a:r>
              <a:rPr lang="zh-TW" altLang="en-US" dirty="0"/>
              <a:t> 內）。此檔案記錄此專案包含哪些子專案目錄，在轉換或建立專案後自動產生。</a:t>
            </a:r>
            <a:endParaRPr lang="en-US" altLang="zh-TW" dirty="0"/>
          </a:p>
          <a:p>
            <a:r>
              <a:rPr lang="zh-TW" altLang="en-US" sz="1400" b="1" dirty="0"/>
              <a:t>開啟方式：</a:t>
            </a:r>
            <a:endParaRPr lang="en-US" altLang="zh-TW" sz="1400" b="1" dirty="0"/>
          </a:p>
          <a:p>
            <a:endParaRPr lang="en-US" altLang="zh-TW" sz="1400" b="1" dirty="0"/>
          </a:p>
          <a:p>
            <a:endParaRPr lang="en-US" altLang="zh-TW" sz="1400" b="1" dirty="0"/>
          </a:p>
          <a:p>
            <a:endParaRPr lang="en-US" altLang="zh-TW" sz="1400" b="1" dirty="0"/>
          </a:p>
          <a:p>
            <a:r>
              <a:rPr lang="zh-TW" altLang="en-US" sz="1400" b="1" dirty="0"/>
              <a:t>專案管理：</a:t>
            </a:r>
            <a:endParaRPr lang="en-US" altLang="zh-TW" dirty="0"/>
          </a:p>
          <a:p>
            <a:pPr marL="342900" lvl="1" indent="0">
              <a:buFont typeface="Arial" panose="020B0604020202020204" pitchFamily="34" charset="0"/>
              <a:buNone/>
            </a:pPr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375A391-D052-A731-C6B0-F9E88C69C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578930"/>
              </p:ext>
            </p:extLst>
          </p:nvPr>
        </p:nvGraphicFramePr>
        <p:xfrm>
          <a:off x="1193644" y="2231549"/>
          <a:ext cx="6998785" cy="91440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01489">
                  <a:extLst>
                    <a:ext uri="{9D8B030D-6E8A-4147-A177-3AD203B41FA5}">
                      <a16:colId xmlns:a16="http://schemas.microsoft.com/office/drawing/2014/main" val="1332419939"/>
                    </a:ext>
                  </a:extLst>
                </a:gridCol>
                <a:gridCol w="5597296">
                  <a:extLst>
                    <a:ext uri="{9D8B030D-6E8A-4147-A177-3AD203B41FA5}">
                      <a16:colId xmlns:a16="http://schemas.microsoft.com/office/drawing/2014/main" val="25096713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000">
                          <a:effectLst/>
                        </a:rPr>
                        <a:t>方式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000" dirty="0">
                          <a:effectLst/>
                        </a:rPr>
                        <a:t>說明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372869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b="1" dirty="0">
                          <a:effectLst/>
                        </a:rPr>
                        <a:t>雙擊 </a:t>
                      </a:r>
                      <a:r>
                        <a:rPr lang="en-US" altLang="zh-TW" sz="1000" b="1" dirty="0">
                          <a:solidFill>
                            <a:srgbClr val="8C8C8C"/>
                          </a:solidFill>
                          <a:effectLst/>
                        </a:rPr>
                        <a:t>.</a:t>
                      </a:r>
                      <a:r>
                        <a:rPr lang="en-US" sz="1000" b="1" dirty="0">
                          <a:solidFill>
                            <a:srgbClr val="8C8C8C"/>
                          </a:solidFill>
                          <a:effectLst/>
                        </a:rPr>
                        <a:t>ht32vs</a:t>
                      </a:r>
                      <a:endParaRPr lang="en-US" sz="10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>
                          <a:effectLst/>
                        </a:rPr>
                        <a:t>在檔案總管雙擊 </a:t>
                      </a:r>
                      <a:r>
                        <a:rPr lang="en-US" altLang="zh-TW" sz="1000">
                          <a:solidFill>
                            <a:srgbClr val="8C8C8C"/>
                          </a:solidFill>
                          <a:effectLst/>
                        </a:rPr>
                        <a:t>.ht32vs</a:t>
                      </a:r>
                      <a:r>
                        <a:rPr lang="zh-TW" altLang="en-US" sz="1000">
                          <a:effectLst/>
                        </a:rPr>
                        <a:t> 檔案，直接開啟專案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830446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Open Project</a:t>
                      </a:r>
                      <a:endParaRPr lang="en-US" sz="10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>
                          <a:effectLst/>
                        </a:rPr>
                        <a:t>透過歡迎畫面的 </a:t>
                      </a:r>
                      <a:r>
                        <a:rPr lang="en-US" sz="1000" b="1" dirty="0">
                          <a:effectLst/>
                        </a:rPr>
                        <a:t>Open</a:t>
                      </a: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zh-TW" altLang="en-US" sz="1000" dirty="0">
                          <a:effectLst/>
                        </a:rPr>
                        <a:t>按鈕、</a:t>
                      </a:r>
                      <a:r>
                        <a:rPr lang="en-US" altLang="zh-TW" sz="1000" dirty="0">
                          <a:solidFill>
                            <a:srgbClr val="8C8C8C"/>
                          </a:solidFill>
                          <a:effectLst/>
                        </a:rPr>
                        <a:t>···</a:t>
                      </a:r>
                      <a:r>
                        <a:rPr lang="zh-TW" altLang="en-US" sz="1000" dirty="0">
                          <a:effectLst/>
                        </a:rPr>
                        <a:t> 選單或 </a:t>
                      </a:r>
                      <a:r>
                        <a:rPr lang="en-US" sz="1000" dirty="0">
                          <a:solidFill>
                            <a:srgbClr val="8C8C8C"/>
                          </a:solidFill>
                          <a:effectLst/>
                        </a:rPr>
                        <a:t>HT32: Open Project</a:t>
                      </a: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zh-TW" altLang="en-US" sz="1000" dirty="0">
                          <a:effectLst/>
                        </a:rPr>
                        <a:t>指令瀏覽並開啟 </a:t>
                      </a:r>
                      <a:r>
                        <a:rPr lang="en-US" altLang="zh-TW" sz="1000" dirty="0">
                          <a:solidFill>
                            <a:srgbClr val="8C8C8C"/>
                          </a:solidFill>
                          <a:effectLst/>
                        </a:rPr>
                        <a:t>.</a:t>
                      </a:r>
                      <a:r>
                        <a:rPr lang="en-US" sz="1000" dirty="0">
                          <a:solidFill>
                            <a:srgbClr val="8C8C8C"/>
                          </a:solidFill>
                          <a:effectLst/>
                        </a:rPr>
                        <a:t>ht32vs</a:t>
                      </a: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zh-TW" altLang="en-US" sz="1000" dirty="0">
                          <a:effectLst/>
                        </a:rPr>
                        <a:t>專案檔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61768821"/>
                  </a:ext>
                </a:extLst>
              </a:tr>
              <a:tr h="151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effectLst/>
                        </a:rPr>
                        <a:t>Recent Projects</a:t>
                      </a:r>
                      <a:endParaRPr lang="en-US" sz="10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>
                          <a:effectLst/>
                        </a:rPr>
                        <a:t>點擊最近開啟清單中的任一項目（專案未開啟時顯示）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2589410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5CC24D8-B224-2C11-705B-0E967EA90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977317"/>
              </p:ext>
            </p:extLst>
          </p:nvPr>
        </p:nvGraphicFramePr>
        <p:xfrm>
          <a:off x="1146947" y="3671545"/>
          <a:ext cx="7045481" cy="106680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57227">
                  <a:extLst>
                    <a:ext uri="{9D8B030D-6E8A-4147-A177-3AD203B41FA5}">
                      <a16:colId xmlns:a16="http://schemas.microsoft.com/office/drawing/2014/main" val="2998463367"/>
                    </a:ext>
                  </a:extLst>
                </a:gridCol>
                <a:gridCol w="5588254">
                  <a:extLst>
                    <a:ext uri="{9D8B030D-6E8A-4147-A177-3AD203B41FA5}">
                      <a16:colId xmlns:a16="http://schemas.microsoft.com/office/drawing/2014/main" val="2715395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000">
                          <a:effectLst/>
                        </a:rPr>
                        <a:t>操作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000">
                          <a:effectLst/>
                        </a:rPr>
                        <a:t>方式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11271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b="1">
                          <a:effectLst/>
                        </a:rPr>
                        <a:t>新增子專案</a:t>
                      </a:r>
                      <a:endParaRPr lang="zh-TW" altLang="en-US" sz="10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>
                          <a:effectLst/>
                        </a:rPr>
                        <a:t>在根節點按右鍵 → </a:t>
                      </a:r>
                      <a:r>
                        <a:rPr lang="en-US" altLang="zh-TW" sz="1000" b="1">
                          <a:effectLst/>
                        </a:rPr>
                        <a:t>Add Project</a:t>
                      </a:r>
                      <a:r>
                        <a:rPr lang="zh-TW" altLang="en-US" sz="1000">
                          <a:effectLst/>
                        </a:rPr>
                        <a:t>，從同一資料夾中選擇可用目錄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68760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b="1">
                          <a:effectLst/>
                        </a:rPr>
                        <a:t>移除子專案</a:t>
                      </a:r>
                      <a:endParaRPr lang="zh-TW" altLang="en-US" sz="10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>
                          <a:effectLst/>
                        </a:rPr>
                        <a:t>在專案節點按右鍵 → </a:t>
                      </a:r>
                      <a:r>
                        <a:rPr lang="en-US" altLang="zh-TW" sz="1000" b="1">
                          <a:effectLst/>
                        </a:rPr>
                        <a:t>Remove Project</a:t>
                      </a:r>
                      <a:r>
                        <a:rPr lang="zh-TW" altLang="en-US" sz="1000">
                          <a:effectLst/>
                        </a:rPr>
                        <a:t>，從清單中移除（磁碟上的檔案不會刪除）。僅剩一個子專案時無法執行。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88212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b="1">
                          <a:effectLst/>
                        </a:rPr>
                        <a:t>上移 </a:t>
                      </a:r>
                      <a:r>
                        <a:rPr lang="en-US" altLang="zh-TW" sz="1000" b="1">
                          <a:effectLst/>
                        </a:rPr>
                        <a:t>/ </a:t>
                      </a:r>
                      <a:r>
                        <a:rPr lang="zh-TW" altLang="en-US" sz="1000" b="1">
                          <a:effectLst/>
                        </a:rPr>
                        <a:t>下移</a:t>
                      </a:r>
                      <a:endParaRPr lang="zh-TW" altLang="en-US" sz="10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>
                          <a:effectLst/>
                        </a:rPr>
                        <a:t>在專案節點按右鍵 → </a:t>
                      </a:r>
                      <a:r>
                        <a:rPr lang="en-US" sz="1000" b="1" dirty="0">
                          <a:effectLst/>
                        </a:rPr>
                        <a:t>Move Up</a:t>
                      </a: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zh-TW" altLang="en-US" sz="1000" dirty="0">
                          <a:effectLst/>
                        </a:rPr>
                        <a:t>或 </a:t>
                      </a:r>
                      <a:r>
                        <a:rPr lang="en-US" sz="1000" b="1" dirty="0">
                          <a:effectLst/>
                        </a:rPr>
                        <a:t>Move Down</a:t>
                      </a:r>
                      <a:r>
                        <a:rPr lang="en-US" sz="1000" dirty="0">
                          <a:effectLst/>
                        </a:rPr>
                        <a:t>，</a:t>
                      </a:r>
                      <a:r>
                        <a:rPr lang="zh-TW" altLang="en-US" sz="1000" dirty="0">
                          <a:effectLst/>
                        </a:rPr>
                        <a:t>調整子專案在 </a:t>
                      </a:r>
                      <a:r>
                        <a:rPr lang="en-US" sz="1000" b="1" dirty="0">
                          <a:effectLst/>
                        </a:rPr>
                        <a:t>Build All</a:t>
                      </a: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zh-TW" altLang="en-US" sz="1000" dirty="0">
                          <a:effectLst/>
                        </a:rPr>
                        <a:t>時的編譯順序。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661807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D3E6-DE6D-E6EB-AFAC-4BEAC2E6D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5C19D39-0C3B-0E9C-5E16-3629F3D2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495D314-A1D0-5970-9DEB-BBC0A65BF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建立新專案</a:t>
            </a:r>
            <a:r>
              <a:rPr lang="en-US" altLang="zh-TW" dirty="0"/>
              <a:t>(1)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CF26BC7-9A36-1D75-D056-C2E17E7B686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1110454"/>
            <a:ext cx="4457671" cy="3602486"/>
          </a:xfrm>
          <a:prstGeom prst="rect">
            <a:avLst/>
          </a:prstGeom>
        </p:spPr>
        <p:txBody>
          <a:bodyPr/>
          <a:lstStyle/>
          <a:p>
            <a:r>
              <a:rPr lang="zh-TW" altLang="en-US" sz="1400" dirty="0"/>
              <a:t>請先準備好 </a:t>
            </a:r>
            <a:r>
              <a:rPr lang="en-US" altLang="zh-TW" sz="1400" dirty="0"/>
              <a:t>HT32 </a:t>
            </a:r>
            <a:r>
              <a:rPr lang="en-US" altLang="zh-TW" sz="1400" dirty="0" err="1"/>
              <a:t>FWLib</a:t>
            </a:r>
            <a:endParaRPr lang="en-US" altLang="zh-TW" b="1" dirty="0"/>
          </a:p>
          <a:p>
            <a:pPr marL="685800" lvl="1" indent="-342900">
              <a:buAutoNum type="arabicPeriod"/>
            </a:pPr>
            <a:r>
              <a:rPr lang="en-US" altLang="zh-TW" dirty="0"/>
              <a:t>HT32 </a:t>
            </a:r>
            <a:r>
              <a:rPr lang="zh-TW" altLang="en-US" dirty="0"/>
              <a:t>面板 → </a:t>
            </a:r>
            <a:r>
              <a:rPr lang="en-US" altLang="zh-TW" b="1" dirty="0"/>
              <a:t>Create Project</a:t>
            </a:r>
            <a:endParaRPr lang="en-US" altLang="zh-TW" dirty="0"/>
          </a:p>
          <a:p>
            <a:pPr marL="685800" lvl="1" indent="-342900">
              <a:buAutoNum type="arabicPeriod"/>
            </a:pPr>
            <a:r>
              <a:rPr lang="zh-TW" altLang="en-US" dirty="0"/>
              <a:t>依精靈步驟選擇： </a:t>
            </a: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r>
              <a:rPr lang="zh-TW" altLang="en-US" dirty="0"/>
              <a:t>產出專案檔 </a:t>
            </a:r>
            <a:r>
              <a:rPr lang="en-US" altLang="zh-TW" dirty="0"/>
              <a:t>.ht32vs</a:t>
            </a:r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34290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80523772-1346-EC43-2219-78BD0BF0C0E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26275E86-4C8C-8F24-2902-62B20770DA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4304073"/>
              </p:ext>
            </p:extLst>
          </p:nvPr>
        </p:nvGraphicFramePr>
        <p:xfrm>
          <a:off x="1193889" y="2296582"/>
          <a:ext cx="3616004" cy="1446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84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步驟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內容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09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選擇</a:t>
                      </a:r>
                      <a:r>
                        <a:rPr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HT32 </a:t>
                      </a:r>
                      <a:r>
                        <a:rPr sz="12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FWLib</a:t>
                      </a:r>
                      <a:r>
                        <a:rPr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sz="12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根目錄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選擇 </a:t>
                      </a:r>
                      <a:r>
                        <a:rPr sz="12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MCU 型號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70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選擇輸出類型：</a:t>
                      </a:r>
                      <a:r>
                        <a:rPr lang="en-US" sz="12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Executable</a:t>
                      </a:r>
                      <a:r>
                        <a:rPr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或 </a:t>
                      </a:r>
                      <a:r>
                        <a:rPr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4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輸入</a:t>
                      </a:r>
                      <a:r>
                        <a:rPr sz="12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專案名稱</a:t>
                      </a:r>
                      <a:r>
                        <a:rPr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和儲存位置</a:t>
                      </a:r>
                      <a:r>
                        <a:rPr 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,  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圖片 5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93EAE911-F7BC-D9FE-EF99-181313842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453" y="1255361"/>
            <a:ext cx="2772199" cy="263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74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CDD51-E2AA-7737-7E85-4E0A9591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498B4A6-65F4-4A1B-6C8A-A81C1E67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5E3746-EF29-E62B-2625-A7ACEA8BD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建立新專案</a:t>
            </a:r>
            <a:r>
              <a:rPr lang="en-US" altLang="zh-TW" dirty="0"/>
              <a:t>(2)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0BBD4D-D4BD-68EF-05D2-BD848D0EAC7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43598" y="975712"/>
            <a:ext cx="4457671" cy="49532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產生的檔案結構及專案樹如圖</a:t>
            </a:r>
            <a:endParaRPr lang="en-US" altLang="zh-TW" dirty="0"/>
          </a:p>
        </p:txBody>
      </p:sp>
      <p:pic>
        <p:nvPicPr>
          <p:cNvPr id="9" name="圖片 8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F708A00F-A76C-B7D5-6ACB-9252391D2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151" y="1471034"/>
            <a:ext cx="3794730" cy="2993511"/>
          </a:xfrm>
          <a:prstGeom prst="rect">
            <a:avLst/>
          </a:prstGeom>
        </p:spPr>
      </p:pic>
      <p:pic>
        <p:nvPicPr>
          <p:cNvPr id="11" name="圖片 10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621E9E23-22BF-5323-E444-07925B6F6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472" y="783864"/>
            <a:ext cx="2524068" cy="368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57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9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0D5062F4-FD1A-3CF2-3536-43E4E0C26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460" y="332954"/>
            <a:ext cx="6020242" cy="529200"/>
          </a:xfrm>
        </p:spPr>
        <p:txBody>
          <a:bodyPr/>
          <a:lstStyle/>
          <a:p>
            <a:r>
              <a:rPr lang="zh-TW" altLang="en-US" dirty="0"/>
              <a:t>建立新專案</a:t>
            </a:r>
            <a:r>
              <a:rPr lang="en-US" altLang="zh-TW" dirty="0"/>
              <a:t>(3)-</a:t>
            </a:r>
            <a:r>
              <a:rPr lang="zh-TW" altLang="en-US" dirty="0"/>
              <a:t>多專案</a:t>
            </a:r>
            <a:endParaRPr kumimoji="1" lang="zh-TW" altLang="en-US" dirty="0"/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3EBA6D8A-B679-D2B9-BA2D-1C2D618DACAC}"/>
              </a:ext>
            </a:extLst>
          </p:cNvPr>
          <p:cNvSpPr txBox="1">
            <a:spLocks/>
          </p:cNvSpPr>
          <p:nvPr/>
        </p:nvSpPr>
        <p:spPr>
          <a:xfrm>
            <a:off x="892096" y="1169926"/>
            <a:ext cx="7456449" cy="345411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●"/>
              <a:defRPr sz="13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tabLst>
                <a:tab pos="1207294" algn="l"/>
                <a:tab pos="1207294" algn="l"/>
                <a:tab pos="1207294" algn="l"/>
                <a:tab pos="1207294" algn="l"/>
              </a:tabLst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Wingdings" panose="05000000000000000000" charset="0"/>
              <a:buChar char="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/>
              <a:t>一個工作區可包含多個子專案（例如 </a:t>
            </a:r>
            <a:r>
              <a:rPr lang="en-US" altLang="zh-TW" sz="1400" dirty="0"/>
              <a:t>IAP + AP </a:t>
            </a:r>
            <a:r>
              <a:rPr lang="zh-TW" altLang="en-US" sz="1400" dirty="0"/>
              <a:t>組合），共用同一個 </a:t>
            </a:r>
            <a:r>
              <a:rPr lang="en-US" altLang="zh-TW" sz="1400" dirty="0"/>
              <a:t>.ht32vs </a:t>
            </a:r>
            <a:r>
              <a:rPr lang="zh-TW" altLang="en-US" sz="1400" dirty="0"/>
              <a:t>專案檔。</a:t>
            </a:r>
          </a:p>
          <a:p>
            <a:pPr>
              <a:lnSpc>
                <a:spcPct val="100000"/>
              </a:lnSpc>
            </a:pPr>
            <a:r>
              <a:rPr lang="zh-TW" altLang="en-US" sz="1400" b="1" dirty="0"/>
              <a:t>新增第二個專案：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dirty="0"/>
              <a:t>1. </a:t>
            </a:r>
            <a:r>
              <a:rPr lang="zh-TW" altLang="en-US" sz="1400" dirty="0"/>
              <a:t>在專案開啟的狀態下</a:t>
            </a:r>
            <a:r>
              <a:rPr lang="en-US" altLang="zh-TW" sz="1400" dirty="0"/>
              <a:t>, </a:t>
            </a:r>
            <a:r>
              <a:rPr lang="zh-TW" altLang="en-US" sz="1400" dirty="0"/>
              <a:t>再次執行 </a:t>
            </a:r>
            <a:r>
              <a:rPr lang="en-US" altLang="zh-TW" sz="1400" dirty="0"/>
              <a:t>Create Project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dirty="0"/>
              <a:t>2. </a:t>
            </a:r>
            <a:r>
              <a:rPr lang="zh-TW" altLang="en-US" sz="1400" dirty="0"/>
              <a:t>選擇與現有專案相同的上層資料夾（不同資料夾下的專案無法合併）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dirty="0"/>
              <a:t>3. </a:t>
            </a:r>
            <a:r>
              <a:rPr lang="zh-TW" altLang="en-US" sz="1400" dirty="0"/>
              <a:t>詢問是否合併時選擇 </a:t>
            </a:r>
            <a:r>
              <a:rPr lang="en-US" altLang="zh-TW" sz="1400" dirty="0"/>
              <a:t>Yes — </a:t>
            </a:r>
            <a:r>
              <a:rPr lang="zh-TW" altLang="en-US" sz="1400" dirty="0"/>
              <a:t>新專案自動加入現有的 </a:t>
            </a:r>
            <a:r>
              <a:rPr lang="en-US" altLang="zh-TW" sz="1400" dirty="0"/>
              <a:t>.ht32vs</a:t>
            </a:r>
          </a:p>
          <a:p>
            <a:pPr>
              <a:lnSpc>
                <a:spcPct val="100000"/>
              </a:lnSpc>
            </a:pPr>
            <a:r>
              <a:rPr lang="zh-TW" altLang="en-US" sz="1400" dirty="0"/>
              <a:t>各子專案獨立放在 </a:t>
            </a:r>
            <a:r>
              <a:rPr lang="en-US" altLang="zh-TW" sz="1400" dirty="0"/>
              <a:t>&lt;</a:t>
            </a:r>
            <a:r>
              <a:rPr lang="en-US" altLang="zh-TW" sz="1400" dirty="0" err="1"/>
              <a:t>projectName</a:t>
            </a:r>
            <a:r>
              <a:rPr lang="en-US" altLang="zh-TW" sz="1400" dirty="0"/>
              <a:t>&gt;/ </a:t>
            </a:r>
            <a:r>
              <a:rPr lang="zh-TW" altLang="en-US" sz="1400" dirty="0"/>
              <a:t>資料夾下</a:t>
            </a:r>
          </a:p>
          <a:p>
            <a:pPr>
              <a:lnSpc>
                <a:spcPct val="100000"/>
              </a:lnSpc>
            </a:pPr>
            <a:r>
              <a:rPr lang="en-US" altLang="zh-TW" sz="1400" dirty="0"/>
              <a:t>HT32 </a:t>
            </a:r>
            <a:r>
              <a:rPr lang="en-US" altLang="zh-TW" sz="1400" dirty="0" err="1"/>
              <a:t>TreeView</a:t>
            </a:r>
            <a:r>
              <a:rPr lang="zh-TW" altLang="en-US" sz="1400" dirty="0"/>
              <a:t> 同時顯示所有子專案</a:t>
            </a:r>
            <a:endParaRPr lang="en-US" altLang="zh-TW" sz="1400" dirty="0"/>
          </a:p>
          <a:p>
            <a:pPr>
              <a:lnSpc>
                <a:spcPct val="100000"/>
              </a:lnSpc>
            </a:pPr>
            <a:endParaRPr lang="en-US" altLang="zh-TW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b="1" dirty="0">
                <a:solidFill>
                  <a:srgbClr val="FF0000"/>
                </a:solidFill>
              </a:rPr>
              <a:t>NOTE:</a:t>
            </a:r>
            <a:r>
              <a:rPr lang="en-US" altLang="zh-TW" dirty="0">
                <a:solidFill>
                  <a:srgbClr val="FF0000"/>
                </a:solidFill>
              </a:rPr>
              <a:t> </a:t>
            </a:r>
            <a:r>
              <a:rPr lang="zh-TW" altLang="en-US" b="1" dirty="0">
                <a:solidFill>
                  <a:srgbClr val="FF0000"/>
                </a:solidFill>
              </a:rPr>
              <a:t>工作區信任</a:t>
            </a:r>
            <a:r>
              <a:rPr lang="zh-TW" altLang="en-US" dirty="0">
                <a:solidFill>
                  <a:srgbClr val="FF0000"/>
                </a:solidFill>
              </a:rPr>
              <a:t> </a:t>
            </a:r>
            <a:r>
              <a:rPr lang="en-US" altLang="zh-TW" dirty="0">
                <a:solidFill>
                  <a:srgbClr val="FF0000"/>
                </a:solidFill>
              </a:rPr>
              <a:t>— </a:t>
            </a:r>
            <a:r>
              <a:rPr lang="zh-TW" altLang="en-US" dirty="0">
                <a:solidFill>
                  <a:srgbClr val="FF0000"/>
                </a:solidFill>
              </a:rPr>
              <a:t>若 </a:t>
            </a:r>
            <a:r>
              <a:rPr lang="en-US" altLang="zh-TW" dirty="0">
                <a:solidFill>
                  <a:srgbClr val="FF0000"/>
                </a:solidFill>
              </a:rPr>
              <a:t>VS Code </a:t>
            </a:r>
            <a:r>
              <a:rPr lang="zh-TW" altLang="en-US" dirty="0">
                <a:solidFill>
                  <a:srgbClr val="FF0000"/>
                </a:solidFill>
              </a:rPr>
              <a:t>以受限模式開啟資料夾，擴充功能將顯示通知：</a:t>
            </a:r>
            <a:r>
              <a:rPr lang="zh-TW" altLang="en-US" i="1" dirty="0">
                <a:solidFill>
                  <a:srgbClr val="FF0000"/>
                </a:solidFill>
              </a:rPr>
              <a:t>「</a:t>
            </a:r>
            <a:r>
              <a:rPr lang="en-US" altLang="zh-TW" i="1" dirty="0">
                <a:solidFill>
                  <a:srgbClr val="FF0000"/>
                </a:solidFill>
              </a:rPr>
              <a:t>This workspace is in Restricted Mode. Please trust the workspace to enable all features.</a:t>
            </a:r>
            <a:r>
              <a:rPr lang="zh-TW" altLang="en-US" i="1" dirty="0">
                <a:solidFill>
                  <a:srgbClr val="FF0000"/>
                </a:solidFill>
              </a:rPr>
              <a:t>」</a:t>
            </a:r>
            <a:r>
              <a:rPr lang="zh-TW" altLang="en-US" dirty="0">
                <a:solidFill>
                  <a:srgbClr val="FF0000"/>
                </a:solidFill>
              </a:rPr>
              <a:t>，請點選 </a:t>
            </a:r>
            <a:r>
              <a:rPr lang="en-US" altLang="zh-TW" b="1" dirty="0">
                <a:solidFill>
                  <a:srgbClr val="FF0000"/>
                </a:solidFill>
              </a:rPr>
              <a:t>Trust Workspace</a:t>
            </a:r>
            <a:r>
              <a:rPr lang="en-US" altLang="zh-TW" dirty="0">
                <a:solidFill>
                  <a:srgbClr val="FF0000"/>
                </a:solidFill>
              </a:rPr>
              <a:t> </a:t>
            </a:r>
            <a:r>
              <a:rPr lang="zh-TW" altLang="en-US" dirty="0">
                <a:solidFill>
                  <a:srgbClr val="FF0000"/>
                </a:solidFill>
              </a:rPr>
              <a:t>以啟用編譯與除錯功能。</a:t>
            </a:r>
            <a:br>
              <a:rPr lang="zh-TW" altLang="en-US" sz="1400" dirty="0">
                <a:solidFill>
                  <a:srgbClr val="FF0000"/>
                </a:solidFill>
              </a:rPr>
            </a:br>
            <a:endParaRPr lang="en-US" altLang="zh-TW" sz="14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endParaRPr lang="zh-TW" altLang="en-US" sz="1400" dirty="0"/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endParaRPr lang="en-US" altLang="zh-TW" dirty="0"/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endParaRPr lang="en-US" altLang="zh-TW" dirty="0"/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endParaRPr lang="en-US" altLang="zh-TW" dirty="0"/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endParaRPr lang="en-US" altLang="zh-TW" dirty="0"/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endParaRPr lang="en-US" altLang="zh-TW" dirty="0"/>
          </a:p>
          <a:p>
            <a:pPr marL="342900" lvl="1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zh-TW" dirty="0"/>
          </a:p>
          <a:p>
            <a:pPr>
              <a:lnSpc>
                <a:spcPct val="100000"/>
              </a:lnSpc>
            </a:pPr>
            <a:endParaRPr lang="zh-TW" altLang="en-US" dirty="0"/>
          </a:p>
        </p:txBody>
      </p:sp>
      <p:pic>
        <p:nvPicPr>
          <p:cNvPr id="4" name="圖片 3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3795807A-978B-58D3-A61D-EDEE1E9FA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663" y="2697603"/>
            <a:ext cx="3416454" cy="9674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0DE6-3A2D-801F-D698-E8B60050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636437C-7096-5A4B-61D4-70AA5117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D541664-DE58-4FA5-5875-1009D89A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匯入</a:t>
            </a:r>
            <a:r>
              <a:rPr lang="en-US" altLang="zh-TW" dirty="0"/>
              <a:t>Keil</a:t>
            </a:r>
            <a:r>
              <a:rPr lang="zh-TW" altLang="en-US" dirty="0"/>
              <a:t>專案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8F7101-6B24-1DD9-7F31-D9DB31A096D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1996" y="869588"/>
            <a:ext cx="6020242" cy="394095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請先準備好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HT32 </a:t>
            </a:r>
            <a:r>
              <a:rPr lang="en-US" altLang="zh-TW" sz="1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FWLib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lnSpc>
                <a:spcPct val="100000"/>
              </a:lnSpc>
              <a:buAutoNum type="arabicPeriod"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HT32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面板 → 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Convert </a:t>
            </a:r>
            <a:r>
              <a:rPr lang="en-US" altLang="zh-TW" sz="11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uVision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Project</a:t>
            </a:r>
          </a:p>
          <a:p>
            <a:pPr marL="685800" lvl="1" indent="-342900">
              <a:buAutoNum type="arabicPeriod"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選取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uvprojx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（單一專案）或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uvmpw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（多專案）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.uvmpw 會將所有子專案一次全部轉換，產生獨立的 HT32_VSCode/Project_xxx/ 目錄，並同時顯示在treeview中。</a:t>
            </a:r>
          </a:p>
          <a:p>
            <a:pPr>
              <a:lnSpc>
                <a:spcPct val="10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自動產生：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Makefile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MCU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型號、編譯旗標、來源檔案）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scatter_name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&gt;.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ld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(從 Keil scatter 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轉換，放在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GNU_ARM/)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startup_xxx_gcc.s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 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Keil startup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compile_commands.json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tasks.json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launch.json</a:t>
            </a:r>
            <a:endParaRPr lang="en-US" altLang="zh-TW" sz="1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uvmpw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多專案 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—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每個子專案各一個目錄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轉換警告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TW" altLang="en-US" sz="1000" dirty="0"/>
              <a:t>如 </a:t>
            </a:r>
            <a:r>
              <a:rPr lang="en-US" altLang="zh-TW" sz="1000" dirty="0"/>
              <a:t>Keil </a:t>
            </a:r>
            <a:r>
              <a:rPr lang="zh-TW" altLang="en-US" sz="1000" dirty="0"/>
              <a:t>預編譯 </a:t>
            </a:r>
            <a:r>
              <a:rPr lang="en-US" altLang="zh-TW" sz="1000" dirty="0"/>
              <a:t>.lib </a:t>
            </a:r>
            <a:r>
              <a:rPr lang="zh-TW" altLang="en-US" sz="1000" dirty="0"/>
              <a:t>無法用於 </a:t>
            </a:r>
            <a:r>
              <a:rPr lang="en-US" altLang="zh-TW" sz="1000" dirty="0"/>
              <a:t>GCC </a:t>
            </a:r>
            <a:r>
              <a:rPr lang="zh-TW" altLang="en-US" sz="1000" dirty="0"/>
              <a:t>工具鏈）會顯示在</a:t>
            </a:r>
            <a:r>
              <a:rPr lang="en-US" altLang="zh-TW" sz="1000" dirty="0"/>
              <a:t>VS Code 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altLang="zh-TW" sz="1000" b="1" dirty="0"/>
              <a:t>Problems</a:t>
            </a:r>
            <a:r>
              <a:rPr lang="en-US" altLang="zh-TW" sz="1000" dirty="0"/>
              <a:t> </a:t>
            </a:r>
            <a:r>
              <a:rPr lang="zh-TW" altLang="en-US" sz="1000" dirty="0"/>
              <a:t>面板中。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1" indent="0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357EA80A-90EF-7256-873E-C79E610C909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9" name="圖片 8" descr="一張含有 文字, 字型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0E28DDDE-C863-01D2-4D68-AC98CB883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122" y="3091870"/>
            <a:ext cx="1565787" cy="1600200"/>
          </a:xfrm>
          <a:prstGeom prst="rect">
            <a:avLst/>
          </a:prstGeom>
        </p:spPr>
      </p:pic>
      <p:pic>
        <p:nvPicPr>
          <p:cNvPr id="8" name="圖片 7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87D01325-3157-8061-D281-F2CD030FC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672" y="1457093"/>
            <a:ext cx="1998741" cy="322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05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1CB6C-7303-BBCF-2D05-6EE33DB2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9EF0985-BFB2-9A8C-E17D-7247F5D6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2770E86-2385-FDC1-10DF-780205F7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匯入</a:t>
            </a:r>
            <a:r>
              <a:rPr lang="en-US" altLang="zh-TW" dirty="0"/>
              <a:t>HT32-IDE</a:t>
            </a:r>
            <a:r>
              <a:rPr lang="zh-TW" altLang="en-US" dirty="0"/>
              <a:t>專案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7C0DC01-DBC3-4BEC-59FB-006A1899A4C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5454" y="877022"/>
            <a:ext cx="7384198" cy="367312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請先準備好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HT32 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FWLib</a:t>
            </a:r>
            <a:endParaRPr lang="en-US" altLang="zh-TW" dirty="0"/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altLang="zh-TW" dirty="0"/>
              <a:t>HT32 </a:t>
            </a:r>
            <a:r>
              <a:rPr lang="zh-TW" altLang="en-US" dirty="0"/>
              <a:t>面板 → </a:t>
            </a:r>
            <a:r>
              <a:rPr lang="en-US" altLang="zh-TW" b="1" dirty="0"/>
              <a:t>Convert HT32-IDE Project</a:t>
            </a:r>
            <a:endParaRPr lang="en-US" altLang="zh-TW" dirty="0"/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zh-TW" altLang="en-US" dirty="0"/>
              <a:t>選取包含 </a:t>
            </a:r>
            <a:r>
              <a:rPr lang="en-US" altLang="zh-TW" dirty="0"/>
              <a:t>.project / .</a:t>
            </a:r>
            <a:r>
              <a:rPr lang="en-US" altLang="zh-TW" dirty="0" err="1"/>
              <a:t>cproject</a:t>
            </a:r>
            <a:r>
              <a:rPr lang="en-US" altLang="zh-TW" dirty="0"/>
              <a:t> </a:t>
            </a:r>
            <a:r>
              <a:rPr lang="zh-TW" altLang="en-US" dirty="0"/>
              <a:t>的</a:t>
            </a:r>
            <a:r>
              <a:rPr lang="zh-TW" altLang="en-US" b="1" dirty="0"/>
              <a:t>專案資料夾</a:t>
            </a:r>
            <a:endParaRPr lang="en-US" altLang="zh-TW" b="1" dirty="0"/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zh-TW" altLang="en-US" dirty="0"/>
              <a:t>可選取單一資料夾（自動偵測並轉換所有子專案），或直接多選特定子專案資料夾進行局部轉換。</a:t>
            </a:r>
            <a:endParaRPr lang="en-US" altLang="zh-TW" dirty="0"/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zh-TW" altLang="en-US" dirty="0"/>
              <a:t>子專案各自產生獨立的 </a:t>
            </a:r>
            <a:r>
              <a:rPr lang="en-US" altLang="zh-TW" dirty="0"/>
              <a:t>HT32_VSCode/</a:t>
            </a:r>
            <a:r>
              <a:rPr lang="en-US" altLang="zh-TW" dirty="0" err="1"/>
              <a:t>Project_xxx</a:t>
            </a:r>
            <a:r>
              <a:rPr lang="en-US" altLang="zh-TW" dirty="0"/>
              <a:t>/ </a:t>
            </a:r>
            <a:r>
              <a:rPr lang="zh-TW" altLang="en-US" dirty="0"/>
              <a:t>目錄，統一由同一個 </a:t>
            </a:r>
            <a:r>
              <a:rPr lang="en-US" altLang="zh-TW" dirty="0"/>
              <a:t>.ht32vs </a:t>
            </a:r>
            <a:r>
              <a:rPr lang="zh-TW" altLang="en-US" dirty="0"/>
              <a:t>專案檔管理，並在</a:t>
            </a:r>
            <a:r>
              <a:rPr lang="en-US" altLang="zh-TW" dirty="0" err="1"/>
              <a:t>TreeView</a:t>
            </a:r>
            <a:r>
              <a:rPr lang="en-US" altLang="zh-TW" dirty="0"/>
              <a:t> </a:t>
            </a:r>
            <a:r>
              <a:rPr lang="zh-TW" altLang="en-US" dirty="0"/>
              <a:t>中顯示所有所選擇之子專案。</a:t>
            </a:r>
            <a:endParaRPr lang="en-US" altLang="zh-TW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自動產生：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產生的檔案與 </a:t>
            </a:r>
            <a:r>
              <a:rPr lang="en-US" altLang="zh-TW" dirty="0" err="1"/>
              <a:t>uVision</a:t>
            </a:r>
            <a:r>
              <a:rPr lang="en-US" altLang="zh-TW" dirty="0"/>
              <a:t> </a:t>
            </a:r>
            <a:r>
              <a:rPr lang="zh-TW" altLang="en-US" dirty="0"/>
              <a:t>匯入相同。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轉換警告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TW" altLang="en-US" dirty="0"/>
              <a:t>如缺少檔案等會顯示在</a:t>
            </a:r>
            <a:r>
              <a:rPr lang="en-US" altLang="zh-TW" dirty="0"/>
              <a:t>VS Code </a:t>
            </a:r>
            <a:r>
              <a:rPr lang="en-US" altLang="zh-TW" b="1" dirty="0"/>
              <a:t>Problems</a:t>
            </a:r>
            <a:r>
              <a:rPr lang="en-US" altLang="zh-TW" dirty="0"/>
              <a:t> </a:t>
            </a:r>
            <a:r>
              <a:rPr lang="zh-TW" altLang="en-US" dirty="0"/>
              <a:t>面板中。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1" indent="0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98C06512-1E9F-8E97-3711-B229026AA0C1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6" name="圖片 5" descr="一張含有 文字, 字型, 多媒體軟體, 螢幕擷取畫面 的圖片&#10;&#10;AI 產生的內容可能不正確。">
            <a:extLst>
              <a:ext uri="{FF2B5EF4-FFF2-40B4-BE49-F238E27FC236}">
                <a16:creationId xmlns:a16="http://schemas.microsoft.com/office/drawing/2014/main" id="{7D454670-A175-F39E-0874-4CB7F357B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381" y="3478046"/>
            <a:ext cx="7491109" cy="9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1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D674C-F91A-2DDE-8FC2-0B4C30EF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2C907E0-C41E-08B4-C580-62616125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32963BE-709E-E93F-3EC4-D421200C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建置</a:t>
            </a:r>
            <a:r>
              <a:rPr lang="en-US" altLang="zh-TW" dirty="0"/>
              <a:t>/</a:t>
            </a:r>
            <a:r>
              <a:rPr lang="zh-TW" altLang="en-US" dirty="0"/>
              <a:t>清除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079D59-F883-4C68-B038-FA7F28694AD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0640" y="869588"/>
            <a:ext cx="8075286" cy="394095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sz="1200" dirty="0"/>
              <a:t>HT32 </a:t>
            </a:r>
            <a:r>
              <a:rPr lang="zh-TW" altLang="en-US" sz="1200" dirty="0"/>
              <a:t>工具列點 </a:t>
            </a:r>
            <a:r>
              <a:rPr lang="en-US" altLang="zh-TW" sz="1200" b="1" dirty="0"/>
              <a:t>Build</a:t>
            </a:r>
          </a:p>
          <a:p>
            <a:pPr>
              <a:lnSpc>
                <a:spcPct val="100000"/>
              </a:lnSpc>
            </a:pPr>
            <a:r>
              <a:rPr lang="zh-TW" altLang="en-US" sz="1200" dirty="0"/>
              <a:t>或按 </a:t>
            </a:r>
            <a:r>
              <a:rPr lang="en-US" altLang="zh-TW" sz="1200" dirty="0" err="1"/>
              <a:t>Ctrl+Shift+B</a:t>
            </a:r>
            <a:r>
              <a:rPr lang="zh-TW" altLang="en-US" sz="1200" dirty="0"/>
              <a:t>（直接執行預設建置任務 </a:t>
            </a:r>
            <a:r>
              <a:rPr lang="en-US" altLang="zh-TW" sz="1200" b="1" dirty="0"/>
              <a:t>Build (make)</a:t>
            </a:r>
            <a:r>
              <a:rPr lang="zh-TW" altLang="en-US" sz="1200" dirty="0"/>
              <a:t>）</a:t>
            </a:r>
            <a:endParaRPr lang="en-US" altLang="zh-TW" sz="1200" dirty="0"/>
          </a:p>
          <a:p>
            <a:pPr>
              <a:lnSpc>
                <a:spcPct val="100000"/>
              </a:lnSpc>
            </a:pPr>
            <a:r>
              <a:rPr lang="zh-TW" altLang="en-US" sz="1200" dirty="0"/>
              <a:t>也可在「專案設定」中設定 </a:t>
            </a:r>
            <a:r>
              <a:rPr lang="en-US" altLang="zh-TW" sz="1200" b="1" dirty="0"/>
              <a:t>Post-Build</a:t>
            </a:r>
            <a:r>
              <a:rPr lang="en-US" altLang="zh-TW" sz="1200" dirty="0"/>
              <a:t> </a:t>
            </a:r>
            <a:r>
              <a:rPr lang="zh-TW" altLang="en-US" sz="1200" dirty="0"/>
              <a:t>命令，</a:t>
            </a:r>
            <a:r>
              <a:rPr lang="en-US" altLang="zh-TW" sz="1200" dirty="0"/>
              <a:t>Build </a:t>
            </a:r>
            <a:r>
              <a:rPr lang="zh-TW" altLang="en-US" sz="1200" dirty="0"/>
              <a:t>成功後自動執行（例如 </a:t>
            </a:r>
            <a:r>
              <a:rPr lang="en-US" altLang="zh-TW" sz="1200" dirty="0"/>
              <a:t>CRC </a:t>
            </a:r>
            <a:r>
              <a:rPr lang="zh-TW" altLang="en-US" sz="1200" dirty="0"/>
              <a:t>計算）</a:t>
            </a:r>
            <a:endParaRPr lang="en-US" altLang="zh-TW" sz="1200" dirty="0"/>
          </a:p>
          <a:p>
            <a:pPr>
              <a:lnSpc>
                <a:spcPct val="100000"/>
              </a:lnSpc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altLang="zh-TW" sz="1200" dirty="0"/>
              <a:t>HT32 工具列點 Clean, 刪除 HT32_VSCode/Project/build/ 目錄下所有編譯輸出</a:t>
            </a:r>
          </a:p>
          <a:p>
            <a:pPr>
              <a:lnSpc>
                <a:spcPct val="100000"/>
              </a:lnSpc>
            </a:pPr>
            <a:r>
              <a:rPr lang="zh-TW" altLang="en-US" sz="1200" dirty="0"/>
              <a:t>多專案時，工具列的 </a:t>
            </a:r>
            <a:r>
              <a:rPr lang="en-US" altLang="zh-TW" sz="1200" b="1" dirty="0"/>
              <a:t>Build</a:t>
            </a:r>
            <a:r>
              <a:rPr lang="zh-TW" altLang="en-US" sz="1200" dirty="0"/>
              <a:t>、</a:t>
            </a:r>
            <a:r>
              <a:rPr lang="en-US" altLang="zh-TW" sz="1200" b="1" dirty="0"/>
              <a:t>Debug</a:t>
            </a:r>
            <a:r>
              <a:rPr lang="zh-TW" altLang="en-US" sz="1200" dirty="0"/>
              <a:t>、</a:t>
            </a:r>
            <a:r>
              <a:rPr lang="en-US" altLang="zh-TW" sz="1200" b="1" dirty="0"/>
              <a:t>Clean</a:t>
            </a:r>
            <a:r>
              <a:rPr lang="zh-TW" altLang="en-US" sz="1200" dirty="0"/>
              <a:t>、</a:t>
            </a:r>
            <a:r>
              <a:rPr lang="en-US" altLang="zh-TW" sz="1200" b="1" dirty="0"/>
              <a:t>Download</a:t>
            </a:r>
            <a:r>
              <a:rPr lang="en-US" altLang="zh-TW" sz="1200" dirty="0"/>
              <a:t> </a:t>
            </a:r>
            <a:r>
              <a:rPr lang="zh-TW" altLang="en-US" sz="1200" dirty="0"/>
              <a:t>按鈕會彈出 </a:t>
            </a:r>
            <a:r>
              <a:rPr lang="en-US" altLang="zh-TW" sz="1200" dirty="0" err="1"/>
              <a:t>QuickPick</a:t>
            </a:r>
            <a:r>
              <a:rPr lang="en-US" altLang="zh-TW" sz="1200" dirty="0"/>
              <a:t> </a:t>
            </a:r>
            <a:r>
              <a:rPr lang="zh-TW" altLang="en-US" sz="1200" dirty="0"/>
              <a:t>讓使用者選擇要操作哪個子專案。</a:t>
            </a:r>
            <a:r>
              <a:rPr lang="en-US" altLang="zh-TW" sz="1200" b="1" dirty="0"/>
              <a:t>Build</a:t>
            </a:r>
            <a:r>
              <a:rPr lang="en-US" altLang="zh-TW" sz="1200" dirty="0"/>
              <a:t> </a:t>
            </a:r>
            <a:r>
              <a:rPr lang="zh-TW" altLang="en-US" sz="1200" dirty="0"/>
              <a:t>與 </a:t>
            </a:r>
            <a:r>
              <a:rPr lang="en-US" altLang="zh-TW" sz="1200" b="1" dirty="0"/>
              <a:t>Clean</a:t>
            </a:r>
            <a:r>
              <a:rPr lang="en-US" altLang="zh-TW" sz="1200" dirty="0"/>
              <a:t> </a:t>
            </a:r>
            <a:r>
              <a:rPr lang="zh-TW" altLang="en-US" sz="1200" dirty="0"/>
              <a:t>另有 </a:t>
            </a:r>
            <a:r>
              <a:rPr lang="en-US" altLang="zh-TW" sz="1200" b="1" dirty="0"/>
              <a:t>Build All</a:t>
            </a:r>
            <a:r>
              <a:rPr lang="en-US" altLang="zh-TW" sz="1200" dirty="0"/>
              <a:t> / </a:t>
            </a:r>
            <a:r>
              <a:rPr lang="en-US" altLang="zh-TW" sz="1200" b="1" dirty="0"/>
              <a:t>Clean All</a:t>
            </a:r>
            <a:r>
              <a:rPr lang="en-US" altLang="zh-TW" sz="1200" dirty="0"/>
              <a:t> </a:t>
            </a:r>
            <a:r>
              <a:rPr lang="zh-TW" altLang="en-US" sz="1200" dirty="0"/>
              <a:t>選項，可依序處理</a:t>
            </a:r>
            <a:r>
              <a:rPr lang="zh-TW" altLang="en-US" dirty="0"/>
              <a:t>所有子專案。編譯順序與 </a:t>
            </a:r>
            <a:r>
              <a:rPr lang="en-US" altLang="zh-TW" dirty="0"/>
              <a:t>Project Tree </a:t>
            </a:r>
            <a:r>
              <a:rPr lang="zh-TW" altLang="en-US" dirty="0"/>
              <a:t>的排列順序相同，可在專案節點上按右鍵 </a:t>
            </a:r>
            <a:r>
              <a:rPr lang="en-US" altLang="zh-TW" b="1" dirty="0"/>
              <a:t>Move Up / Move Down</a:t>
            </a:r>
            <a:r>
              <a:rPr lang="en-US" altLang="zh-TW" dirty="0"/>
              <a:t> </a:t>
            </a:r>
            <a:r>
              <a:rPr lang="zh-TW" altLang="en-US" dirty="0"/>
              <a:t>調整。</a:t>
            </a:r>
            <a:br>
              <a:rPr lang="zh-TW" altLang="en-US" dirty="0"/>
            </a:b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1" indent="0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6B5E8863-0898-4527-A9B1-9719E49C49D1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8" name="圖片 7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3A18D070-7AD5-CDCC-4994-2E8F43183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74" y="1757491"/>
            <a:ext cx="4032483" cy="1970142"/>
          </a:xfrm>
          <a:prstGeom prst="rect">
            <a:avLst/>
          </a:prstGeom>
        </p:spPr>
      </p:pic>
      <p:pic>
        <p:nvPicPr>
          <p:cNvPr id="13" name="圖片 1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D4AEBA5F-B016-210A-01A6-2DCB1A192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939" y="2797936"/>
            <a:ext cx="3681588" cy="92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702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0A5D0-40B7-9519-1F3E-C2FB0CCDD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C8AA867-4FB2-0153-E8B1-EDA257C0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13F5EDD-FA95-F2D4-1953-163DE296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燒錄韌體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F4465F-3C70-12C6-6856-B382D8A544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5454" y="1137424"/>
            <a:ext cx="7384198" cy="367312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TW" altLang="en-US" sz="1400" dirty="0"/>
              <a:t>需要連接 </a:t>
            </a:r>
            <a:r>
              <a:rPr lang="en-US" altLang="zh-TW" sz="1400" dirty="0" err="1"/>
              <a:t>Holtek</a:t>
            </a:r>
            <a:r>
              <a:rPr lang="en-US" altLang="zh-TW" sz="1400" dirty="0"/>
              <a:t> e-Link32 Pro </a:t>
            </a:r>
            <a:r>
              <a:rPr lang="zh-TW" altLang="en-US" sz="1400" dirty="0"/>
              <a:t>或 </a:t>
            </a:r>
            <a:r>
              <a:rPr lang="en-US" altLang="zh-TW" sz="1400" dirty="0"/>
              <a:t>e-Link32 Lite </a:t>
            </a:r>
          </a:p>
          <a:p>
            <a:pPr marL="685800" lvl="1" indent="-342900">
              <a:buAutoNum type="arabicPeriod"/>
            </a:pPr>
            <a:r>
              <a:rPr lang="zh-TW" altLang="en-US" dirty="0"/>
              <a:t>確認 </a:t>
            </a:r>
            <a:r>
              <a:rPr lang="en-US" altLang="zh-TW" dirty="0"/>
              <a:t>e-Link32 </a:t>
            </a:r>
            <a:r>
              <a:rPr lang="zh-TW" altLang="en-US" dirty="0"/>
              <a:t>已連接並驅動正常</a:t>
            </a:r>
          </a:p>
          <a:p>
            <a:pPr marL="685800" lvl="1" indent="-342900">
              <a:buAutoNum type="arabicPeriod"/>
            </a:pPr>
            <a:r>
              <a:rPr lang="en-US" altLang="zh-TW" dirty="0"/>
              <a:t>HT32 </a:t>
            </a:r>
            <a:r>
              <a:rPr lang="zh-TW" altLang="en-US" dirty="0"/>
              <a:t>工具列點 </a:t>
            </a:r>
            <a:r>
              <a:rPr lang="en-US" altLang="zh-TW" b="1" dirty="0"/>
              <a:t>Download</a:t>
            </a:r>
            <a:endParaRPr lang="zh-TW" altLang="en-US" dirty="0"/>
          </a:p>
          <a:p>
            <a:pPr marL="685800" lvl="1" indent="-342900">
              <a:buAutoNum type="arabicPeriod"/>
            </a:pPr>
            <a:r>
              <a:rPr lang="zh-TW" altLang="en-US" dirty="0"/>
              <a:t>韌體自動燒錄，</a:t>
            </a:r>
            <a:r>
              <a:rPr lang="en-US" altLang="zh-TW" dirty="0"/>
              <a:t>Terminal</a:t>
            </a:r>
            <a:r>
              <a:rPr lang="zh-TW" altLang="en-US" dirty="0"/>
              <a:t> 顯示進度</a:t>
            </a:r>
            <a:endParaRPr lang="en-US" altLang="zh-TW" sz="1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/>
              <a:t>燒錄設定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EFF6925C-FBD6-D7E1-CB65-0D7B1FC2383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6868040"/>
              </p:ext>
            </p:extLst>
          </p:nvPr>
        </p:nvGraphicFramePr>
        <p:xfrm>
          <a:off x="1048215" y="3631537"/>
          <a:ext cx="4148253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6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設定</a:t>
                      </a:r>
                      <a:endParaRPr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選項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/>
                        <a:t>Debug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CMSIS-DAP（e-Link32）/ J-Link / ST-Link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Erase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/>
                        <a:t>Erase </a:t>
                      </a:r>
                      <a:r>
                        <a:rPr sz="1100" dirty="0" err="1"/>
                        <a:t>Sector（預設</a:t>
                      </a:r>
                      <a:r>
                        <a:rPr sz="1100" dirty="0"/>
                        <a:t>）/ Erase Chip / 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圖片 7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B2824160-573B-3CC5-0D69-AB0FA9EFD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890" y="1423640"/>
            <a:ext cx="3242310" cy="176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24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8A849-7DE1-6426-6140-540A9A51E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B376632-FE11-41D3-A51B-7D78951E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B4741C8-133A-DDBF-2EE8-D4BD38E2B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除錯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42C94C3-D33B-F769-4CC7-EC92FCC2E4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966439"/>
            <a:ext cx="4896285" cy="376976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TW" b="1" dirty="0"/>
              <a:t>Cortex-Debug</a:t>
            </a:r>
            <a:r>
              <a:rPr lang="en-US" altLang="zh-TW" dirty="0"/>
              <a:t> </a:t>
            </a:r>
            <a:r>
              <a:rPr lang="zh-TW" altLang="en-US" dirty="0"/>
              <a:t>為相依套件，安裝本 </a:t>
            </a:r>
            <a:r>
              <a:rPr lang="en-US" altLang="zh-TW" dirty="0"/>
              <a:t>Extension </a:t>
            </a:r>
            <a:r>
              <a:rPr lang="zh-TW" altLang="en-US" dirty="0"/>
              <a:t>時會自動一併安裝。</a:t>
            </a:r>
            <a:r>
              <a:rPr lang="en-US" altLang="zh-TW" dirty="0"/>
              <a:t>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 b="1" dirty="0"/>
              <a:t>模式選擇（</a:t>
            </a:r>
            <a:r>
              <a:rPr lang="en-US" altLang="zh-TW" b="1" dirty="0" err="1"/>
              <a:t>QuickPick</a:t>
            </a:r>
            <a:r>
              <a:rPr lang="zh-TW" altLang="en-US" b="1" dirty="0"/>
              <a:t>）</a:t>
            </a:r>
            <a:endParaRPr lang="en-US" altLang="zh-TW" b="1" dirty="0"/>
          </a:p>
          <a:p>
            <a:pPr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TW" dirty="0"/>
              <a:t>HT32 </a:t>
            </a:r>
            <a:r>
              <a:rPr lang="zh-TW" altLang="en-US" dirty="0"/>
              <a:t>工具列點 </a:t>
            </a:r>
            <a:r>
              <a:rPr lang="en-US" altLang="zh-TW" b="1" dirty="0" err="1"/>
              <a:t>Debug</a:t>
            </a:r>
            <a:r>
              <a:rPr lang="en-US" altLang="zh-TW" b="1" dirty="0" err="1">
                <a:sym typeface="Wingdings" panose="05000000000000000000" pitchFamily="2" charset="2"/>
              </a:rPr>
              <a:t></a:t>
            </a:r>
            <a:r>
              <a:rPr lang="en-US" altLang="zh-TW" b="1" dirty="0" err="1"/>
              <a:t>Debug</a:t>
            </a:r>
            <a:endParaRPr lang="zh-TW" altLang="en-US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自動編譯、燒錄，並啟動 </a:t>
            </a:r>
            <a:r>
              <a:rPr lang="en-US" altLang="zh-TW" dirty="0" err="1"/>
              <a:t>OpenOCD</a:t>
            </a:r>
            <a:r>
              <a:rPr lang="en-US" altLang="zh-TW" dirty="0"/>
              <a:t> + GDB </a:t>
            </a:r>
            <a:r>
              <a:rPr lang="zh-TW" altLang="en-US" dirty="0"/>
              <a:t>除錯工作階段</a:t>
            </a:r>
            <a:endParaRPr lang="en-US" altLang="zh-TW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TW" dirty="0"/>
              <a:t>HT32 </a:t>
            </a:r>
            <a:r>
              <a:rPr lang="zh-TW" altLang="en-US" dirty="0"/>
              <a:t>工具列點 </a:t>
            </a:r>
            <a:r>
              <a:rPr lang="en-US" altLang="zh-TW" dirty="0" err="1"/>
              <a:t>Debug</a:t>
            </a:r>
            <a:r>
              <a:rPr lang="en-US" altLang="zh-TW" dirty="0" err="1">
                <a:sym typeface="Wingdings" panose="05000000000000000000" pitchFamily="2" charset="2"/>
              </a:rPr>
              <a:t></a:t>
            </a:r>
            <a:r>
              <a:rPr lang="en-US" altLang="zh-TW" dirty="0" err="1"/>
              <a:t>Attach</a:t>
            </a:r>
            <a:r>
              <a:rPr lang="en-US" altLang="zh-TW" dirty="0"/>
              <a:t>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不會編譯也不會燒錄，直接透過 </a:t>
            </a:r>
            <a:r>
              <a:rPr lang="en-US" altLang="zh-TW" dirty="0" err="1"/>
              <a:t>OpenOCD</a:t>
            </a:r>
            <a:r>
              <a:rPr lang="en-US" altLang="zh-TW" dirty="0"/>
              <a:t> </a:t>
            </a:r>
            <a:r>
              <a:rPr lang="zh-TW" altLang="en-US" dirty="0"/>
              <a:t>連線並暫停 </a:t>
            </a:r>
            <a:r>
              <a:rPr lang="en-US" altLang="zh-TW" dirty="0"/>
              <a:t>CPU</a:t>
            </a:r>
            <a:r>
              <a:rPr lang="zh-TW" altLang="en-US" dirty="0"/>
              <a:t>。</a:t>
            </a:r>
          </a:p>
          <a:p>
            <a:pPr marL="685800" lvl="1" indent="-342900">
              <a:lnSpc>
                <a:spcPct val="100000"/>
              </a:lnSpc>
              <a:buAutoNum type="arabicPeriod"/>
            </a:pPr>
            <a:endParaRPr lang="zh-TW" altLang="en-US" sz="1000" dirty="0"/>
          </a:p>
          <a:p>
            <a:pPr>
              <a:buFont typeface="Wingdings" panose="05000000000000000000" pitchFamily="2" charset="2"/>
              <a:buChar char="l"/>
            </a:pPr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724875BF-5923-0C27-A8CF-A26CB1211509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8161452"/>
              </p:ext>
            </p:extLst>
          </p:nvPr>
        </p:nvGraphicFramePr>
        <p:xfrm>
          <a:off x="690253" y="1833546"/>
          <a:ext cx="406895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說明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/>
                        <a:t>Debug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燒錄後啟動除錯（完整流程</a:t>
                      </a:r>
                      <a:r>
                        <a:rPr sz="1100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/>
                        <a:t>Attach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不燒錄，直接附接到已執行中的目標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圖片 9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338DFBEA-F480-2C89-F543-6E4C434E6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331" y="1503297"/>
            <a:ext cx="3444390" cy="285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28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5F86D-50BF-341A-F17E-31E9AD47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0F2A3A8-7F53-EC10-4668-A4705EC10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5A6B2B2-5D9C-037F-2A38-E0150316A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堆疊使用分析</a:t>
            </a: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ED6DE72F-114F-3627-D415-31D3F7E60181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8" name="圖片 7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DEA5A13A-50E5-6F6C-88B5-79077519B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262" y="3054172"/>
            <a:ext cx="5776332" cy="1626168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FD83030-4DB8-A904-6839-6C0154F2D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477462"/>
              </p:ext>
            </p:extLst>
          </p:nvPr>
        </p:nvGraphicFramePr>
        <p:xfrm>
          <a:off x="912774" y="921843"/>
          <a:ext cx="7467600" cy="20726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335948">
                  <a:extLst>
                    <a:ext uri="{9D8B030D-6E8A-4147-A177-3AD203B41FA5}">
                      <a16:colId xmlns:a16="http://schemas.microsoft.com/office/drawing/2014/main" val="2163320348"/>
                    </a:ext>
                  </a:extLst>
                </a:gridCol>
                <a:gridCol w="5131652">
                  <a:extLst>
                    <a:ext uri="{9D8B030D-6E8A-4147-A177-3AD203B41FA5}">
                      <a16:colId xmlns:a16="http://schemas.microsoft.com/office/drawing/2014/main" val="1120670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b="1" dirty="0">
                          <a:effectLst/>
                        </a:rPr>
                        <a:t>欄位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b="1">
                          <a:effectLst/>
                        </a:rPr>
                        <a:t>說明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741959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</a:rPr>
                        <a:t>Target</a:t>
                      </a:r>
                      <a:endParaRPr lang="en-US" sz="11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100">
                          <a:effectLst/>
                        </a:rPr>
                        <a:t>ELF </a:t>
                      </a:r>
                      <a:r>
                        <a:rPr lang="zh-TW" altLang="en-US" sz="1100">
                          <a:effectLst/>
                        </a:rPr>
                        <a:t>檔名（輸出名稱）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602883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</a:rPr>
                        <a:t>Stack Top Addr (Start)</a:t>
                      </a:r>
                      <a:endParaRPr lang="en-US" sz="11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>
                          <a:effectLst/>
                        </a:rPr>
                        <a:t>堆疊頂端（最高位址）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974696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</a:rPr>
                        <a:t>Stack Bottom Addr (End/Limit)</a:t>
                      </a:r>
                      <a:endParaRPr lang="en-US" sz="11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>
                          <a:effectLst/>
                        </a:rPr>
                        <a:t>堆疊底端（堆疊限制位址）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37623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</a:rPr>
                        <a:t>Stack Size</a:t>
                      </a:r>
                      <a:endParaRPr lang="en-US" sz="11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>
                          <a:effectLst/>
                        </a:rPr>
                        <a:t>堆疊總大小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125456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</a:rPr>
                        <a:t>Current Usage</a:t>
                      </a:r>
                      <a:endParaRPr lang="en-US" sz="11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最近一次除錯器暫停時的堆疊使用量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633304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</a:rPr>
                        <a:t>Peak Usage</a:t>
                      </a:r>
                      <a:endParaRPr lang="en-US" sz="11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>
                          <a:effectLst/>
                        </a:rPr>
                        <a:t>最高堆疊使用量（需啟用 </a:t>
                      </a:r>
                      <a:r>
                        <a:rPr lang="en-US" altLang="zh-TW" sz="1100">
                          <a:effectLst/>
                        </a:rPr>
                        <a:t>watermark </a:t>
                      </a:r>
                      <a:r>
                        <a:rPr lang="zh-TW" altLang="en-US" sz="1100">
                          <a:effectLst/>
                        </a:rPr>
                        <a:t>追蹤，見下方說明）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040462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</a:rPr>
                        <a:t>Peak Addr</a:t>
                      </a:r>
                      <a:endParaRPr lang="en-US" sz="11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最高使用量發生的記憶體位址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293590083"/>
                  </a:ext>
                </a:extLst>
              </a:tr>
            </a:tbl>
          </a:graphicData>
        </a:graphic>
      </p:graphicFrame>
      <p:pic>
        <p:nvPicPr>
          <p:cNvPr id="14" name="圖片 13" descr="一張含有 文字, 字型, 螢幕擷取畫面, 印刷術 的圖片&#10;&#10;AI 產生的內容可能不正確。">
            <a:extLst>
              <a:ext uri="{FF2B5EF4-FFF2-40B4-BE49-F238E27FC236}">
                <a16:creationId xmlns:a16="http://schemas.microsoft.com/office/drawing/2014/main" id="{8291F8BF-0613-D366-CD40-E3800B00D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06" y="3963998"/>
            <a:ext cx="2766300" cy="71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2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A7FF8-30EC-DD86-33A3-10FF43AE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26A0843-E4BD-685A-3C8C-3BEAE3EB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CA9B7C3-5362-8E17-C5D9-86AA75E01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專案設定 </a:t>
            </a:r>
            <a:r>
              <a:rPr lang="en-US" altLang="zh-TW" dirty="0"/>
              <a:t>— </a:t>
            </a:r>
            <a:r>
              <a:rPr lang="zh-TW" altLang="en-US" dirty="0"/>
              <a:t>編譯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76E001-BDF7-0232-D64E-ED0FD192DD1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9944" y="827321"/>
            <a:ext cx="4896285" cy="30096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TW" dirty="0"/>
              <a:t>HT32 </a:t>
            </a:r>
            <a:r>
              <a:rPr lang="zh-TW" altLang="en-US" dirty="0"/>
              <a:t>工具列點 </a:t>
            </a:r>
            <a:r>
              <a:rPr lang="en-US" altLang="zh-TW" b="1" dirty="0"/>
              <a:t>Settings</a:t>
            </a:r>
            <a:r>
              <a:rPr lang="zh-TW" altLang="en-US" dirty="0"/>
              <a:t>（⚙️）開啟設定面板。</a:t>
            </a:r>
            <a:r>
              <a:rPr lang="en-US" altLang="zh-TW" dirty="0"/>
              <a:t>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984BA7C1-E0D0-92ED-E685-E4CEC81E2C62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13" name="圖片 12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581ED1E3-17E2-9502-590B-1C4EBCBDD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887" y="1238161"/>
            <a:ext cx="2293091" cy="2194560"/>
          </a:xfrm>
          <a:prstGeom prst="rect">
            <a:avLst/>
          </a:prstGeom>
        </p:spPr>
      </p:pic>
      <p:pic>
        <p:nvPicPr>
          <p:cNvPr id="5" name="圖片 4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D648538E-E34E-751F-E01D-7F549658B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887" y="3464387"/>
            <a:ext cx="2293091" cy="1166428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09EBC56-09ED-7F85-D3F0-F149357B0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886386"/>
              </p:ext>
            </p:extLst>
          </p:nvPr>
        </p:nvGraphicFramePr>
        <p:xfrm>
          <a:off x="671401" y="1199699"/>
          <a:ext cx="5788872" cy="3483499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261477">
                  <a:extLst>
                    <a:ext uri="{9D8B030D-6E8A-4147-A177-3AD203B41FA5}">
                      <a16:colId xmlns:a16="http://schemas.microsoft.com/office/drawing/2014/main" val="2416700251"/>
                    </a:ext>
                  </a:extLst>
                </a:gridCol>
                <a:gridCol w="4527395">
                  <a:extLst>
                    <a:ext uri="{9D8B030D-6E8A-4147-A177-3AD203B41FA5}">
                      <a16:colId xmlns:a16="http://schemas.microsoft.com/office/drawing/2014/main" val="3395919885"/>
                    </a:ext>
                  </a:extLst>
                </a:gridCol>
              </a:tblGrid>
              <a:tr h="196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 b="1" dirty="0">
                          <a:effectLst/>
                        </a:rPr>
                        <a:t>設定項目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 b="1">
                          <a:effectLst/>
                        </a:rPr>
                        <a:t>說明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234951347"/>
                  </a:ext>
                </a:extLst>
              </a:tr>
              <a:tr h="196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Output Filename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自訂輸出檔名（留空則沿用轉換時的名稱）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2431205725"/>
                  </a:ext>
                </a:extLst>
              </a:tr>
              <a:tr h="196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Optimization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-O0 / -O1 / -O2 / -O3 / -Os（</a:t>
                      </a:r>
                      <a:r>
                        <a:rPr lang="zh-TW" altLang="en-US" sz="800">
                          <a:effectLst/>
                        </a:rPr>
                        <a:t>預設）</a:t>
                      </a:r>
                      <a:r>
                        <a:rPr lang="en-US" altLang="zh-TW" sz="800">
                          <a:effectLst/>
                        </a:rPr>
                        <a:t>/ -</a:t>
                      </a:r>
                      <a:r>
                        <a:rPr lang="en-US" sz="800">
                          <a:effectLst/>
                        </a:rPr>
                        <a:t>Og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3803019978"/>
                  </a:ext>
                </a:extLst>
              </a:tr>
              <a:tr h="331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Debug Info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800">
                          <a:effectLst/>
                        </a:rPr>
                        <a:t>-g3</a:t>
                      </a:r>
                      <a:r>
                        <a:rPr lang="zh-TW" altLang="en-US" sz="800">
                          <a:effectLst/>
                        </a:rPr>
                        <a:t>（預設，完整 </a:t>
                      </a:r>
                      <a:r>
                        <a:rPr lang="en-US" altLang="zh-TW" sz="800">
                          <a:effectLst/>
                        </a:rPr>
                        <a:t>debug</a:t>
                      </a:r>
                      <a:r>
                        <a:rPr lang="zh-TW" altLang="en-US" sz="800">
                          <a:effectLst/>
                        </a:rPr>
                        <a:t>）</a:t>
                      </a:r>
                      <a:r>
                        <a:rPr lang="en-US" altLang="zh-TW" sz="800">
                          <a:effectLst/>
                        </a:rPr>
                        <a:t>/ -g</a:t>
                      </a:r>
                      <a:r>
                        <a:rPr lang="zh-TW" altLang="en-US" sz="800">
                          <a:effectLst/>
                        </a:rPr>
                        <a:t>（標準）</a:t>
                      </a:r>
                      <a:r>
                        <a:rPr lang="en-US" altLang="zh-TW" sz="800">
                          <a:effectLst/>
                        </a:rPr>
                        <a:t>/ -g1</a:t>
                      </a:r>
                      <a:r>
                        <a:rPr lang="zh-TW" altLang="en-US" sz="800">
                          <a:effectLst/>
                        </a:rPr>
                        <a:t>（僅行號）</a:t>
                      </a:r>
                      <a:r>
                        <a:rPr lang="en-US" altLang="zh-TW" sz="800">
                          <a:effectLst/>
                        </a:rPr>
                        <a:t>/ -g0</a:t>
                      </a:r>
                      <a:r>
                        <a:rPr lang="zh-TW" altLang="en-US" sz="800">
                          <a:effectLst/>
                        </a:rPr>
                        <a:t>（無，</a:t>
                      </a:r>
                      <a:r>
                        <a:rPr lang="en-US" altLang="zh-TW" sz="800">
                          <a:effectLst/>
                        </a:rPr>
                        <a:t>release </a:t>
                      </a:r>
                      <a:r>
                        <a:rPr lang="zh-TW" altLang="en-US" sz="800">
                          <a:effectLst/>
                        </a:rPr>
                        <a:t>用）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2981774127"/>
                  </a:ext>
                </a:extLst>
              </a:tr>
              <a:tr h="196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Float ABI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soft（M0/M3）/ softfp / hard（M4F）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3763008196"/>
                  </a:ext>
                </a:extLst>
              </a:tr>
              <a:tr h="331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FPU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none / fpv4-sp-d16（M4F）/ fpv5-sp-d16（M7）/ fpv5-d16（M7）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1757740925"/>
                  </a:ext>
                </a:extLst>
              </a:tr>
              <a:tr h="331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C Runtime Library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nano（newlib-nano）/ nosys（</a:t>
                      </a:r>
                      <a:r>
                        <a:rPr lang="zh-TW" altLang="en-US" sz="800">
                          <a:effectLst/>
                        </a:rPr>
                        <a:t>不使用 </a:t>
                      </a:r>
                      <a:r>
                        <a:rPr lang="en-US" sz="800">
                          <a:effectLst/>
                        </a:rPr>
                        <a:t>syscalls）— </a:t>
                      </a:r>
                      <a:r>
                        <a:rPr lang="zh-TW" altLang="en-US" sz="800">
                          <a:effectLst/>
                        </a:rPr>
                        <a:t>可同時勾選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2063383144"/>
                  </a:ext>
                </a:extLst>
              </a:tr>
              <a:tr h="196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printf float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啟用浮點 </a:t>
                      </a:r>
                      <a:r>
                        <a:rPr lang="en-US" sz="800">
                          <a:effectLst/>
                        </a:rPr>
                        <a:t>printf（-u _printf_float）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3365412468"/>
                  </a:ext>
                </a:extLst>
              </a:tr>
              <a:tr h="196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scanf float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啟用浮點 </a:t>
                      </a:r>
                      <a:r>
                        <a:rPr lang="en-US" sz="800">
                          <a:effectLst/>
                        </a:rPr>
                        <a:t>scanf（-u _scanf_float）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1135815846"/>
                  </a:ext>
                </a:extLst>
              </a:tr>
              <a:tr h="196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LTO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啟用 </a:t>
                      </a:r>
                      <a:r>
                        <a:rPr lang="en-US" altLang="zh-TW" sz="800">
                          <a:effectLst/>
                        </a:rPr>
                        <a:t>-</a:t>
                      </a:r>
                      <a:r>
                        <a:rPr lang="en-US" sz="800">
                          <a:effectLst/>
                        </a:rPr>
                        <a:t>flto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912113790"/>
                  </a:ext>
                </a:extLst>
              </a:tr>
              <a:tr h="196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Libraries (-l)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要連結的函式庫名稱（</a:t>
                      </a:r>
                      <a:r>
                        <a:rPr lang="en-US" altLang="zh-TW" sz="800">
                          <a:effectLst/>
                        </a:rPr>
                        <a:t>-lName</a:t>
                      </a:r>
                      <a:r>
                        <a:rPr lang="zh-TW" altLang="en-US" sz="800">
                          <a:effectLst/>
                        </a:rPr>
                        <a:t>）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2199975582"/>
                  </a:ext>
                </a:extLst>
              </a:tr>
              <a:tr h="196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Search Paths (-L)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函式庫搜尋路徑（</a:t>
                      </a:r>
                      <a:r>
                        <a:rPr lang="en-US" altLang="zh-TW" sz="800">
                          <a:effectLst/>
                        </a:rPr>
                        <a:t>-L"dir"</a:t>
                      </a:r>
                      <a:r>
                        <a:rPr lang="zh-TW" altLang="en-US" sz="800">
                          <a:effectLst/>
                        </a:rPr>
                        <a:t>）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1311483785"/>
                  </a:ext>
                </a:extLst>
              </a:tr>
              <a:tr h="331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Include Paths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所有 </a:t>
                      </a:r>
                      <a:r>
                        <a:rPr lang="en-US" altLang="zh-TW" sz="800">
                          <a:effectLst/>
                        </a:rPr>
                        <a:t>-I</a:t>
                      </a:r>
                      <a:r>
                        <a:rPr lang="zh-TW" altLang="en-US" sz="800">
                          <a:effectLst/>
                        </a:rPr>
                        <a:t> 搜尋路徑，寫入 </a:t>
                      </a:r>
                      <a:r>
                        <a:rPr lang="en-US" altLang="zh-TW" sz="800">
                          <a:effectLst/>
                        </a:rPr>
                        <a:t>includes.list</a:t>
                      </a:r>
                      <a:r>
                        <a:rPr lang="zh-TW" altLang="en-US" sz="800">
                          <a:effectLst/>
                        </a:rPr>
                        <a:t>；轉換時自動填入，可在此新增額外路徑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1877291791"/>
                  </a:ext>
                </a:extLst>
              </a:tr>
              <a:tr h="196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Extra CFLAGS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附加編譯旗標，例如 </a:t>
                      </a:r>
                      <a:r>
                        <a:rPr lang="en-US" altLang="zh-TW" sz="800">
                          <a:effectLst/>
                        </a:rPr>
                        <a:t>-DDEBUG</a:t>
                      </a:r>
                      <a:endParaRPr lang="zh-TW" altLang="en-US" sz="800">
                        <a:effectLst/>
                      </a:endParaRP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2346603464"/>
                  </a:ext>
                </a:extLst>
              </a:tr>
              <a:tr h="196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Extra LDFLAGS</a:t>
                      </a:r>
                    </a:p>
                  </a:txBody>
                  <a:tcPr marL="61198" marR="61198" marT="28245" marB="282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 dirty="0">
                          <a:effectLst/>
                        </a:rPr>
                        <a:t>附加連結旗標</a:t>
                      </a:r>
                    </a:p>
                  </a:txBody>
                  <a:tcPr marL="61198" marR="61198" marT="28245" marB="28245" anchor="ctr"/>
                </a:tc>
                <a:extLst>
                  <a:ext uri="{0D108BD9-81ED-4DB2-BD59-A6C34878D82A}">
                    <a16:rowId xmlns:a16="http://schemas.microsoft.com/office/drawing/2014/main" val="3901246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98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AFF27-BA40-B857-9993-32873440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CE6E8EE-4D9B-2784-86DF-123BEA45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AD8155C-6A56-0C97-6662-E297E99A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專案設定 </a:t>
            </a:r>
            <a:r>
              <a:rPr lang="en-US" altLang="zh-TW" dirty="0"/>
              <a:t>—</a:t>
            </a:r>
            <a:r>
              <a:rPr lang="zh-TW" altLang="en-US" dirty="0"/>
              <a:t>除錯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B6FFB34F-ACE5-34CC-F63F-7F72812BD6A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31F0925-F850-DA88-C1FA-773D98D07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22353"/>
              </p:ext>
            </p:extLst>
          </p:nvPr>
        </p:nvGraphicFramePr>
        <p:xfrm>
          <a:off x="126934" y="838386"/>
          <a:ext cx="5064512" cy="284988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748883">
                  <a:extLst>
                    <a:ext uri="{9D8B030D-6E8A-4147-A177-3AD203B41FA5}">
                      <a16:colId xmlns:a16="http://schemas.microsoft.com/office/drawing/2014/main" val="1081308245"/>
                    </a:ext>
                  </a:extLst>
                </a:gridCol>
                <a:gridCol w="3315629">
                  <a:extLst>
                    <a:ext uri="{9D8B030D-6E8A-4147-A177-3AD203B41FA5}">
                      <a16:colId xmlns:a16="http://schemas.microsoft.com/office/drawing/2014/main" val="40071965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b="1">
                          <a:effectLst/>
                        </a:rPr>
                        <a:t>設定項目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b="1" dirty="0">
                          <a:effectLst/>
                        </a:rPr>
                        <a:t>說明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969620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Debug Server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PyOCD</a:t>
                      </a:r>
                      <a:r>
                        <a:rPr lang="zh-TW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（預設）</a:t>
                      </a:r>
                      <a:r>
                        <a:rPr lang="en-US" altLang="zh-TW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 </a:t>
                      </a:r>
                      <a:r>
                        <a:rPr lang="en-US" altLang="zh-TW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OpenOCD</a:t>
                      </a:r>
                      <a:endParaRPr lang="en-US" sz="1100" b="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265524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Debug Interface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CMSIS-DAP(e-Link32)/ J-Link / ST-Link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331746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Adapter Serial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指定除錯器序號（空白 </a:t>
                      </a:r>
                      <a:r>
                        <a:rPr lang="en-US" altLang="zh-TW" sz="1100" dirty="0">
                          <a:effectLst/>
                        </a:rPr>
                        <a:t>= </a:t>
                      </a:r>
                      <a:r>
                        <a:rPr lang="zh-TW" altLang="en-US" sz="1100" dirty="0">
                          <a:effectLst/>
                        </a:rPr>
                        <a:t>自動）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378155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Adapter Speed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傳輸速率 </a:t>
                      </a:r>
                      <a:r>
                        <a:rPr lang="en-US" altLang="zh-TW" sz="1100" dirty="0">
                          <a:effectLst/>
                        </a:rPr>
                        <a:t>kHz</a:t>
                      </a:r>
                      <a:r>
                        <a:rPr lang="zh-TW" altLang="en-US" sz="1100" dirty="0">
                          <a:effectLst/>
                        </a:rPr>
                        <a:t>（空白 </a:t>
                      </a:r>
                      <a:r>
                        <a:rPr lang="en-US" altLang="zh-TW" sz="1100" dirty="0">
                          <a:effectLst/>
                        </a:rPr>
                        <a:t>= </a:t>
                      </a:r>
                      <a:r>
                        <a:rPr lang="zh-TW" altLang="en-US" sz="1100" dirty="0">
                          <a:effectLst/>
                        </a:rPr>
                        <a:t>介面預設）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939968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Debug Level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1~4 </a:t>
                      </a:r>
                      <a:r>
                        <a:rPr lang="zh-TW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逐漸詳細（預設 </a:t>
                      </a:r>
                      <a:r>
                        <a:rPr lang="en-US" altLang="zh-TW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TW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078528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DFP Path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自訂 </a:t>
                      </a:r>
                      <a:r>
                        <a:rPr lang="en-US" sz="1100" dirty="0">
                          <a:effectLst/>
                        </a:rPr>
                        <a:t>DFP </a:t>
                      </a:r>
                      <a:r>
                        <a:rPr lang="zh-TW" altLang="en-US" sz="1100" dirty="0">
                          <a:effectLst/>
                        </a:rPr>
                        <a:t>路徑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273585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SVD File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周邊暫存器 </a:t>
                      </a:r>
                      <a:r>
                        <a:rPr lang="en-US" altLang="zh-TW" sz="1100" dirty="0">
                          <a:effectLst/>
                        </a:rPr>
                        <a:t>SVD </a:t>
                      </a:r>
                      <a:r>
                        <a:rPr lang="zh-TW" altLang="en-US" sz="1100" dirty="0">
                          <a:effectLst/>
                        </a:rPr>
                        <a:t>檔案（空白 </a:t>
                      </a:r>
                      <a:r>
                        <a:rPr lang="en-US" altLang="zh-TW" sz="1100" dirty="0">
                          <a:effectLst/>
                        </a:rPr>
                        <a:t>= </a:t>
                      </a:r>
                      <a:r>
                        <a:rPr lang="zh-TW" altLang="en-US" sz="1100" dirty="0">
                          <a:effectLst/>
                        </a:rPr>
                        <a:t>自動偵測）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906068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Erase Mode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>
                          <a:effectLst/>
                        </a:rPr>
                        <a:t>erase_sector</a:t>
                      </a:r>
                      <a:r>
                        <a:rPr lang="en-US" sz="1100" dirty="0">
                          <a:effectLst/>
                        </a:rPr>
                        <a:t>（</a:t>
                      </a:r>
                      <a:r>
                        <a:rPr lang="zh-TW" altLang="en-US" sz="1100" dirty="0">
                          <a:effectLst/>
                        </a:rPr>
                        <a:t>預設）</a:t>
                      </a:r>
                      <a:r>
                        <a:rPr lang="en-US" altLang="zh-TW" sz="1100" dirty="0">
                          <a:effectLst/>
                        </a:rPr>
                        <a:t>/ </a:t>
                      </a:r>
                      <a:r>
                        <a:rPr lang="en-US" sz="1100" dirty="0" err="1">
                          <a:effectLst/>
                        </a:rPr>
                        <a:t>erase_chip</a:t>
                      </a:r>
                      <a:r>
                        <a:rPr lang="en-US" sz="1100" dirty="0">
                          <a:effectLst/>
                        </a:rPr>
                        <a:t> / none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298429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Smart Flash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僅 </a:t>
                      </a:r>
                      <a:r>
                        <a:rPr lang="en-US" altLang="zh-TW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PyOCD</a:t>
                      </a:r>
                      <a:r>
                        <a:rPr lang="en-US" altLang="zh-TW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zh-TW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跳過未更動頁面，加速重複燒錄；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635807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Flash Loaders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附加外部 </a:t>
                      </a:r>
                      <a:r>
                        <a:rPr lang="en-US" sz="1100" dirty="0">
                          <a:effectLst/>
                        </a:rPr>
                        <a:t>Flash Loader（</a:t>
                      </a:r>
                      <a:r>
                        <a:rPr lang="zh-TW" altLang="en-US" sz="1100" dirty="0">
                          <a:effectLst/>
                        </a:rPr>
                        <a:t>例如 </a:t>
                      </a:r>
                      <a:r>
                        <a:rPr lang="en-US" sz="1100" dirty="0">
                          <a:effectLst/>
                        </a:rPr>
                        <a:t>SPI Flash）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808082028"/>
                  </a:ext>
                </a:extLst>
              </a:tr>
            </a:tbl>
          </a:graphicData>
        </a:graphic>
      </p:graphicFrame>
      <p:pic>
        <p:nvPicPr>
          <p:cNvPr id="13" name="圖片 12" descr="一張含有 螢幕擷取畫面, 文字, 軟體, 多媒體軟體 的圖片&#10;&#10;AI 產生的內容可能不正確。">
            <a:extLst>
              <a:ext uri="{FF2B5EF4-FFF2-40B4-BE49-F238E27FC236}">
                <a16:creationId xmlns:a16="http://schemas.microsoft.com/office/drawing/2014/main" id="{69224D5B-0A0F-A04C-5C35-B7A2F2962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932" y="3177800"/>
            <a:ext cx="4016968" cy="1703918"/>
          </a:xfrm>
          <a:prstGeom prst="rect">
            <a:avLst/>
          </a:prstGeom>
        </p:spPr>
      </p:pic>
      <p:pic>
        <p:nvPicPr>
          <p:cNvPr id="6" name="圖片 5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076B60D5-065A-24A9-27CD-595B72A3E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582" y="261782"/>
            <a:ext cx="3344318" cy="284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15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D345C-E911-79F2-C33C-75247E34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A224804-693E-24A0-131B-0AEB13A4E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F65231B-8EC6-36B8-3AAC-FFEF71A5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專案設定 </a:t>
            </a:r>
            <a:r>
              <a:rPr lang="en-US" altLang="zh-TW" dirty="0"/>
              <a:t>—</a:t>
            </a:r>
            <a:r>
              <a:rPr lang="zh-TW" altLang="en-US" dirty="0"/>
              <a:t>工具鏈路徑（全域）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A7C6B05F-0BA9-13A3-B9B0-B517287B38D9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33B25B9-051A-0C81-67EA-8E6A504007AD}"/>
              </a:ext>
            </a:extLst>
          </p:cNvPr>
          <p:cNvSpPr txBox="1"/>
          <p:nvPr/>
        </p:nvSpPr>
        <p:spPr>
          <a:xfrm>
            <a:off x="897673" y="2893667"/>
            <a:ext cx="7121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工具鏈路徑（</a:t>
            </a:r>
            <a:r>
              <a:rPr lang="en-US" altLang="zh-TW" sz="1400" dirty="0"/>
              <a:t>GCC / </a:t>
            </a:r>
            <a:r>
              <a:rPr lang="en-US" altLang="zh-TW" sz="1400" dirty="0" err="1"/>
              <a:t>OpenOCD</a:t>
            </a:r>
            <a:r>
              <a:rPr lang="zh-TW" altLang="en-US" sz="1400" dirty="0"/>
              <a:t>）儲存於 </a:t>
            </a:r>
            <a:r>
              <a:rPr lang="en-US" altLang="zh-TW" sz="1400" dirty="0"/>
              <a:t>VS Code </a:t>
            </a:r>
            <a:r>
              <a:rPr lang="zh-TW" altLang="en-US" sz="1400" dirty="0"/>
              <a:t>機器設定，</a:t>
            </a:r>
            <a:r>
              <a:rPr lang="zh-TW" altLang="en-US" sz="1400" b="1" dirty="0"/>
              <a:t>所有專案共用</a:t>
            </a:r>
            <a:r>
              <a:rPr lang="zh-TW" altLang="en-US" sz="1400" dirty="0"/>
              <a:t>，僅顯示於第一個專案的 </a:t>
            </a:r>
            <a:r>
              <a:rPr lang="en-US" altLang="zh-TW" sz="1400" dirty="0"/>
              <a:t>Build </a:t>
            </a:r>
            <a:r>
              <a:rPr lang="zh-TW" altLang="en-US" sz="1400" dirty="0"/>
              <a:t>分頁。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C153E03-DFDA-4A51-1246-0972C127F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526854"/>
              </p:ext>
            </p:extLst>
          </p:nvPr>
        </p:nvGraphicFramePr>
        <p:xfrm>
          <a:off x="951570" y="1201448"/>
          <a:ext cx="7351979" cy="139446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767935">
                  <a:extLst>
                    <a:ext uri="{9D8B030D-6E8A-4147-A177-3AD203B41FA5}">
                      <a16:colId xmlns:a16="http://schemas.microsoft.com/office/drawing/2014/main" val="3917873222"/>
                    </a:ext>
                  </a:extLst>
                </a:gridCol>
                <a:gridCol w="5584044">
                  <a:extLst>
                    <a:ext uri="{9D8B030D-6E8A-4147-A177-3AD203B41FA5}">
                      <a16:colId xmlns:a16="http://schemas.microsoft.com/office/drawing/2014/main" val="41473826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>
                          <a:effectLst/>
                        </a:rPr>
                        <a:t>設定項目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>
                          <a:effectLst/>
                        </a:rPr>
                        <a:t>說明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435305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Post-Build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Build </a:t>
                      </a:r>
                      <a:r>
                        <a:rPr lang="zh-TW" altLang="en-US">
                          <a:effectLst/>
                        </a:rPr>
                        <a:t>後執行的命令（工作目錄：</a:t>
                      </a:r>
                      <a:r>
                        <a:rPr lang="en-US" altLang="zh-TW">
                          <a:effectLst/>
                        </a:rPr>
                        <a:t>${</a:t>
                      </a:r>
                      <a:r>
                        <a:rPr lang="en-US">
                          <a:effectLst/>
                        </a:rPr>
                        <a:t>workspaceFolder} = HT32_VSCode/）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73046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GCC Path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arm-none-eabi-gcc </a:t>
                      </a:r>
                      <a:r>
                        <a:rPr lang="zh-TW" altLang="en-US">
                          <a:effectLst/>
                        </a:rPr>
                        <a:t>路徑（空白 </a:t>
                      </a:r>
                      <a:r>
                        <a:rPr lang="en-US" altLang="zh-TW">
                          <a:effectLst/>
                        </a:rPr>
                        <a:t>= </a:t>
                      </a:r>
                      <a:r>
                        <a:rPr lang="zh-TW" altLang="en-US">
                          <a:effectLst/>
                        </a:rPr>
                        <a:t>自動偵測或 </a:t>
                      </a:r>
                      <a:r>
                        <a:rPr lang="en-US">
                          <a:effectLst/>
                        </a:rPr>
                        <a:t>winget </a:t>
                      </a:r>
                      <a:r>
                        <a:rPr lang="zh-TW" altLang="en-US">
                          <a:effectLst/>
                        </a:rPr>
                        <a:t>安裝）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071645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OpenOCD Path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OpenOCD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zh-TW" altLang="en-US" dirty="0">
                          <a:effectLst/>
                        </a:rPr>
                        <a:t>路徑（空白 </a:t>
                      </a:r>
                      <a:r>
                        <a:rPr lang="en-US" altLang="zh-TW" dirty="0">
                          <a:effectLst/>
                        </a:rPr>
                        <a:t>= </a:t>
                      </a:r>
                      <a:r>
                        <a:rPr lang="zh-TW" altLang="en-US" dirty="0">
                          <a:effectLst/>
                        </a:rPr>
                        <a:t>使用 </a:t>
                      </a:r>
                      <a:r>
                        <a:rPr lang="en-US" dirty="0">
                          <a:effectLst/>
                        </a:rPr>
                        <a:t>bundled </a:t>
                      </a:r>
                      <a:r>
                        <a:rPr lang="en-US" dirty="0" err="1">
                          <a:effectLst/>
                        </a:rPr>
                        <a:t>OpenOCD</a:t>
                      </a:r>
                      <a:r>
                        <a:rPr lang="en-US" dirty="0">
                          <a:effectLst/>
                        </a:rPr>
                        <a:t>）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82536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493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049C1-59B4-D413-B31F-E04ADC6A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70B6C49-D524-8F9F-1889-AB9BF519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860A17E-EAB0-4D4A-C16A-C97343C57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設定精靈</a:t>
            </a:r>
            <a:r>
              <a:rPr kumimoji="1" lang="en-US" altLang="zh-TW" dirty="0"/>
              <a:t>-Configuration Wizard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D4F9CF7-DAEF-7F0F-2E10-E3327055DCCB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1D39138D-D9B7-0737-353F-1645424493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629484"/>
              </p:ext>
            </p:extLst>
          </p:nvPr>
        </p:nvGraphicFramePr>
        <p:xfrm>
          <a:off x="1057740" y="1344941"/>
          <a:ext cx="4659119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1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800" dirty="0">
                          <a:effectLst/>
                        </a:rPr>
                        <a:t>檔案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800" dirty="0">
                          <a:effectLst/>
                        </a:rPr>
                        <a:t>用途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ht32fxxxx_conf.h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>
                          <a:effectLst/>
                        </a:rPr>
                        <a:t>Retarget（printf</a:t>
                      </a:r>
                      <a:r>
                        <a:rPr lang="en-US" sz="800" dirty="0">
                          <a:effectLst/>
                        </a:rPr>
                        <a:t>/</a:t>
                      </a:r>
                      <a:r>
                        <a:rPr lang="en-US" sz="800" dirty="0" err="1">
                          <a:effectLst/>
                        </a:rPr>
                        <a:t>scanf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zh-TW" altLang="en-US" sz="800" dirty="0">
                          <a:effectLst/>
                        </a:rPr>
                        <a:t>輸出埠、鮑率、函式庫啟用）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system_ht32fxxxx_NN.c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時鐘設定（</a:t>
                      </a:r>
                      <a:r>
                        <a:rPr lang="en-US" altLang="zh-TW" sz="800">
                          <a:effectLst/>
                        </a:rPr>
                        <a:t>PLL</a:t>
                      </a:r>
                      <a:r>
                        <a:rPr lang="zh-TW" altLang="en-US" sz="800">
                          <a:effectLst/>
                        </a:rPr>
                        <a:t>、</a:t>
                      </a:r>
                      <a:r>
                        <a:rPr lang="en-US" altLang="zh-TW" sz="800">
                          <a:effectLst/>
                        </a:rPr>
                        <a:t>HSE/HSI</a:t>
                      </a:r>
                      <a:r>
                        <a:rPr lang="zh-TW" altLang="en-US" sz="800">
                          <a:effectLst/>
                        </a:rPr>
                        <a:t>、</a:t>
                      </a:r>
                      <a:r>
                        <a:rPr lang="en-US" altLang="zh-TW" sz="800">
                          <a:effectLst/>
                        </a:rPr>
                        <a:t>HCLK</a:t>
                      </a:r>
                      <a:r>
                        <a:rPr lang="zh-TW" altLang="en-US" sz="800">
                          <a:effectLst/>
                        </a:rPr>
                        <a:t>、</a:t>
                      </a:r>
                      <a:r>
                        <a:rPr lang="en-US" altLang="zh-TW" sz="800">
                          <a:effectLst/>
                        </a:rPr>
                        <a:t>WDT</a:t>
                      </a:r>
                      <a:r>
                        <a:rPr lang="zh-TW" altLang="en-US" sz="800">
                          <a:effectLst/>
                        </a:rPr>
                        <a:t>）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ht32fxxxx_NN_usbdconf.h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USB </a:t>
                      </a:r>
                      <a:r>
                        <a:rPr lang="zh-TW" altLang="en-US" sz="800">
                          <a:effectLst/>
                        </a:rPr>
                        <a:t>端點設定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startup_ht32fxxxx_NN.s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effectLst/>
                        </a:rPr>
                        <a:t>Stack / Heap </a:t>
                      </a:r>
                      <a:r>
                        <a:rPr lang="zh-TW" altLang="en-US" sz="800" dirty="0">
                          <a:effectLst/>
                        </a:rPr>
                        <a:t>大小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2459809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FED9301D-9F62-995C-474F-5580C0413E84}"/>
              </a:ext>
            </a:extLst>
          </p:cNvPr>
          <p:cNvSpPr txBox="1"/>
          <p:nvPr/>
        </p:nvSpPr>
        <p:spPr>
          <a:xfrm>
            <a:off x="951571" y="885162"/>
            <a:ext cx="7121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dirty="0" err="1"/>
              <a:t>Holtek HT32 Configuration Wizard 為相依擴充功能，安裝 Holtek HT32 VS Code Extension 時會自動一併安裝，提供 HT32 韌體設定檔的視覺化圖形編輯介面，相容 Keil MDK Configuration Wizard 語法。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3C05A09-E8A0-42F3-371B-6C176E672F2E}"/>
              </a:ext>
            </a:extLst>
          </p:cNvPr>
          <p:cNvSpPr txBox="1"/>
          <p:nvPr/>
        </p:nvSpPr>
        <p:spPr>
          <a:xfrm>
            <a:off x="951572" y="2557351"/>
            <a:ext cx="712191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b="1" dirty="0"/>
              <a:t>開啟方式</a:t>
            </a:r>
            <a:r>
              <a:rPr lang="en-US" altLang="zh-TW" sz="1100" b="1" dirty="0"/>
              <a:t>:</a:t>
            </a:r>
            <a:endParaRPr lang="zh-TW" altLang="en-US" sz="1100" b="1" dirty="0"/>
          </a:p>
          <a:p>
            <a:r>
              <a:rPr lang="en-US" altLang="zh-TW" sz="1100" dirty="0"/>
              <a:t>1. </a:t>
            </a:r>
            <a:r>
              <a:rPr lang="zh-TW" altLang="en-US" sz="1100" dirty="0"/>
              <a:t>開啟支援的檔案（</a:t>
            </a:r>
            <a:r>
              <a:rPr lang="en-US" altLang="zh-TW" sz="1100" dirty="0"/>
              <a:t>.h</a:t>
            </a:r>
            <a:r>
              <a:rPr lang="zh-TW" altLang="en-US" sz="1100" dirty="0"/>
              <a:t>、</a:t>
            </a:r>
            <a:r>
              <a:rPr lang="en-US" altLang="zh-TW" sz="1100" dirty="0"/>
              <a:t>.c</a:t>
            </a:r>
            <a:r>
              <a:rPr lang="zh-TW" altLang="en-US" sz="1100" dirty="0"/>
              <a:t>、</a:t>
            </a:r>
            <a:r>
              <a:rPr lang="en-US" altLang="zh-TW" sz="1100" dirty="0"/>
              <a:t>.s</a:t>
            </a:r>
            <a:r>
              <a:rPr lang="zh-TW" altLang="en-US" sz="1100" dirty="0"/>
              <a:t>）後，點擊編輯器右上角的 </a:t>
            </a:r>
            <a:r>
              <a:rPr lang="en-US" altLang="zh-TW" sz="1100" dirty="0"/>
              <a:t>Open in Holtek Configuration Wizard </a:t>
            </a:r>
            <a:r>
              <a:rPr lang="zh-TW" altLang="en-US" sz="1100" dirty="0"/>
              <a:t>按鈕即可切換為 </a:t>
            </a:r>
            <a:r>
              <a:rPr lang="en-US" altLang="zh-TW" sz="1100" dirty="0"/>
              <a:t>Wizard </a:t>
            </a:r>
            <a:r>
              <a:rPr lang="zh-TW" altLang="en-US" sz="1100" dirty="0"/>
              <a:t>視圖；點擊 </a:t>
            </a:r>
            <a:r>
              <a:rPr lang="en-US" altLang="zh-TW" sz="1100" dirty="0"/>
              <a:t>Reopen as source file </a:t>
            </a:r>
            <a:r>
              <a:rPr lang="zh-TW" altLang="en-US" sz="1100" dirty="0"/>
              <a:t>切換回文字編輯。</a:t>
            </a:r>
          </a:p>
          <a:p>
            <a:r>
              <a:rPr lang="en-US" altLang="zh-TW" sz="1100" dirty="0"/>
              <a:t>2. </a:t>
            </a:r>
            <a:r>
              <a:rPr lang="zh-TW" altLang="en-US" sz="1100" dirty="0"/>
              <a:t>在 </a:t>
            </a:r>
            <a:r>
              <a:rPr lang="en-US" altLang="zh-TW" sz="1100" dirty="0"/>
              <a:t>Explorer </a:t>
            </a:r>
            <a:r>
              <a:rPr lang="zh-TW" altLang="en-US" sz="1100" dirty="0"/>
              <a:t>中對 </a:t>
            </a:r>
            <a:r>
              <a:rPr lang="en-US" altLang="zh-TW" sz="1100" dirty="0"/>
              <a:t>.h</a:t>
            </a:r>
            <a:r>
              <a:rPr lang="zh-TW" altLang="en-US" sz="1100" dirty="0"/>
              <a:t>、</a:t>
            </a:r>
            <a:r>
              <a:rPr lang="en-US" altLang="zh-TW" sz="1100" dirty="0"/>
              <a:t>.c</a:t>
            </a:r>
            <a:r>
              <a:rPr lang="zh-TW" altLang="en-US" sz="1100" dirty="0"/>
              <a:t>、</a:t>
            </a:r>
            <a:r>
              <a:rPr lang="en-US" altLang="zh-TW" sz="1100" dirty="0"/>
              <a:t>.s </a:t>
            </a:r>
            <a:r>
              <a:rPr lang="zh-TW" altLang="en-US" sz="1100" dirty="0"/>
              <a:t>檔案按右鍵 → </a:t>
            </a:r>
            <a:r>
              <a:rPr lang="en-US" altLang="zh-TW" sz="1100" dirty="0"/>
              <a:t>Open in </a:t>
            </a:r>
            <a:r>
              <a:rPr lang="en-US" altLang="zh-TW" sz="1100" dirty="0" err="1"/>
              <a:t>Holtek</a:t>
            </a:r>
            <a:r>
              <a:rPr lang="en-US" altLang="zh-TW" sz="1100" dirty="0"/>
              <a:t> Configuration Wizard</a:t>
            </a:r>
          </a:p>
          <a:p>
            <a:r>
              <a:rPr lang="en-US" altLang="zh-TW" sz="1100" dirty="0"/>
              <a:t>3. </a:t>
            </a:r>
            <a:r>
              <a:rPr lang="en-US" altLang="zh-TW" sz="1100" dirty="0" err="1"/>
              <a:t>Ctrl+Shift+P</a:t>
            </a:r>
            <a:r>
              <a:rPr lang="en-US" altLang="zh-TW" sz="1100" dirty="0"/>
              <a:t> → HT32: Open in </a:t>
            </a:r>
            <a:r>
              <a:rPr lang="en-US" altLang="zh-TW" sz="1100" dirty="0" err="1"/>
              <a:t>Holtek</a:t>
            </a:r>
            <a:r>
              <a:rPr lang="en-US" altLang="zh-TW" sz="1100" dirty="0"/>
              <a:t> Configuration Wizard</a:t>
            </a:r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FA761D0C-7F1B-9BA3-4580-622F28B672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5824965"/>
              </p:ext>
            </p:extLst>
          </p:nvPr>
        </p:nvGraphicFramePr>
        <p:xfrm>
          <a:off x="1057740" y="3512770"/>
          <a:ext cx="465911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8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800" dirty="0">
                          <a:effectLst/>
                        </a:rPr>
                        <a:t>類型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800">
                          <a:effectLst/>
                        </a:rPr>
                        <a:t>說明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Checkbox（</a:t>
                      </a: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&lt;q&gt;</a:t>
                      </a:r>
                      <a:r>
                        <a:rPr lang="en-US" sz="800">
                          <a:effectLst/>
                        </a:rPr>
                        <a:t>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切換開關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Dropdown（</a:t>
                      </a: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&lt;o&gt;</a:t>
                      </a:r>
                      <a:r>
                        <a:rPr lang="en-US" sz="800">
                          <a:effectLst/>
                        </a:rPr>
                        <a:t> </a:t>
                      </a:r>
                      <a:r>
                        <a:rPr lang="zh-TW" altLang="en-US" sz="800">
                          <a:effectLst/>
                        </a:rPr>
                        <a:t>含選項）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從預定義清單選擇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Number（</a:t>
                      </a: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&lt;o&gt;</a:t>
                      </a:r>
                      <a:r>
                        <a:rPr lang="en-US" sz="800">
                          <a:effectLst/>
                        </a:rPr>
                        <a:t> </a:t>
                      </a:r>
                      <a:r>
                        <a:rPr lang="zh-TW" altLang="en-US" sz="800">
                          <a:effectLst/>
                        </a:rPr>
                        <a:t>含範圍）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在允許範圍內輸入數值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Enable Section（</a:t>
                      </a: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&lt;e&gt;</a:t>
                      </a:r>
                      <a:r>
                        <a:rPr lang="en-US" sz="800">
                          <a:effectLst/>
                        </a:rPr>
                        <a:t>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主開關，控制整組設定的啟用／停用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245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Heading（</a:t>
                      </a: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&lt;h&gt;</a:t>
                      </a:r>
                      <a:r>
                        <a:rPr lang="en-US" sz="800">
                          <a:effectLst/>
                        </a:rPr>
                        <a:t>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 dirty="0">
                          <a:effectLst/>
                        </a:rPr>
                        <a:t>可摺疊群組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55922617"/>
                  </a:ext>
                </a:extLst>
              </a:tr>
            </a:tbl>
          </a:graphicData>
        </a:graphic>
      </p:graphicFrame>
      <p:pic>
        <p:nvPicPr>
          <p:cNvPr id="11" name="圖片 10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0265AF9F-8C7A-CE61-C374-39EF06E29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754" y="1346827"/>
            <a:ext cx="1612729" cy="133534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7439C23-F792-0ED3-A57D-C3A435749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652" y="1346827"/>
            <a:ext cx="213378" cy="228620"/>
          </a:xfrm>
          <a:prstGeom prst="rect">
            <a:avLst/>
          </a:prstGeom>
        </p:spPr>
      </p:pic>
      <p:pic>
        <p:nvPicPr>
          <p:cNvPr id="15" name="圖片 14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357161C2-C7BE-6D81-0FC4-08C95A0F08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583" y="3246144"/>
            <a:ext cx="2217617" cy="121687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510FB24D-398E-5F89-6776-DC00038E6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7124" y="3245679"/>
            <a:ext cx="205758" cy="2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31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0DBF8-073D-F976-537F-7282487BA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C33A77B-0E9C-10B5-D712-13654321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E78510-5A5B-EE8B-45C8-2BE83C25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IntelliSense</a:t>
            </a:r>
            <a:r>
              <a:rPr lang="zh-TW" altLang="en-US" dirty="0"/>
              <a:t>（</a:t>
            </a:r>
            <a:r>
              <a:rPr lang="en-US" altLang="zh-TW" dirty="0" err="1"/>
              <a:t>clangd</a:t>
            </a:r>
            <a:r>
              <a:rPr lang="zh-TW" altLang="en-US" dirty="0"/>
              <a:t>）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CCE48C5B-39A3-DEBB-AF74-CE91534220A2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E52411C2-6B4F-ED0D-B4CA-C3E26DF51E86}"/>
              </a:ext>
            </a:extLst>
          </p:cNvPr>
          <p:cNvSpPr txBox="1">
            <a:spLocks/>
          </p:cNvSpPr>
          <p:nvPr/>
        </p:nvSpPr>
        <p:spPr>
          <a:xfrm>
            <a:off x="693902" y="1382047"/>
            <a:ext cx="7751695" cy="70410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●"/>
              <a:defRPr sz="13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tabLst>
                <a:tab pos="1207294" algn="l"/>
                <a:tab pos="1207294" algn="l"/>
                <a:tab pos="1207294" algn="l"/>
                <a:tab pos="1207294" algn="l"/>
              </a:tabLst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Wingdings" panose="05000000000000000000" charset="0"/>
              <a:buChar char="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匯入或建立專案後，開啟專案時自動產生 </a:t>
            </a:r>
            <a:r>
              <a:rPr lang="en-US" altLang="zh-TW" dirty="0"/>
              <a:t>.</a:t>
            </a:r>
            <a:r>
              <a:rPr lang="en-US" altLang="zh-TW" dirty="0" err="1"/>
              <a:t>clangd</a:t>
            </a:r>
            <a:r>
              <a:rPr lang="en-US" altLang="zh-TW" dirty="0"/>
              <a:t> </a:t>
            </a:r>
            <a:r>
              <a:rPr lang="zh-TW" altLang="en-US" dirty="0"/>
              <a:t>與 </a:t>
            </a:r>
            <a:r>
              <a:rPr lang="en-US" altLang="zh-TW" dirty="0"/>
              <a:t>.</a:t>
            </a:r>
            <a:r>
              <a:rPr lang="en-US" altLang="zh-TW" dirty="0" err="1"/>
              <a:t>vscode</a:t>
            </a:r>
            <a:r>
              <a:rPr lang="en-US" altLang="zh-TW" dirty="0"/>
              <a:t>/</a:t>
            </a:r>
            <a:r>
              <a:rPr lang="en-US" altLang="zh-TW" dirty="0" err="1"/>
              <a:t>compile_commands.json</a:t>
            </a:r>
            <a:r>
              <a:rPr lang="zh-TW" altLang="en-US" dirty="0"/>
              <a:t>，提供完整的 </a:t>
            </a:r>
            <a:r>
              <a:rPr lang="en-US" altLang="zh-TW" dirty="0"/>
              <a:t>IntelliSense </a:t>
            </a:r>
            <a:r>
              <a:rPr lang="zh-TW" altLang="en-US" dirty="0"/>
              <a:t>支援。</a:t>
            </a:r>
            <a:r>
              <a:rPr lang="zh-TW" altLang="en-US" sz="1200" dirty="0"/>
              <a:t> </a:t>
            </a:r>
            <a:br>
              <a:rPr lang="zh-TW" altLang="en-US" sz="1200" dirty="0"/>
            </a:b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B4D5D8D4-AF69-874F-C8F3-F0D66C47C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84" y="2650551"/>
            <a:ext cx="3605562" cy="1348196"/>
          </a:xfrm>
          <a:prstGeom prst="rect">
            <a:avLst/>
          </a:prstGeom>
        </p:spPr>
      </p:pic>
      <p:pic>
        <p:nvPicPr>
          <p:cNvPr id="11" name="圖片 10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5116A58B-6759-B220-D69C-3D11989E6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127" y="2644055"/>
            <a:ext cx="4458713" cy="174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023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15B84-9CC0-78BC-5FFD-B1A0827ED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097207-789F-45AE-89A9-3EA0EFF9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91A7144-341B-0D6F-C94E-9EDAB066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IntelliSense</a:t>
            </a:r>
            <a:r>
              <a:rPr lang="zh-TW" altLang="en-US" dirty="0"/>
              <a:t>（</a:t>
            </a:r>
            <a:r>
              <a:rPr lang="en-US" altLang="zh-TW" dirty="0" err="1"/>
              <a:t>clangd</a:t>
            </a:r>
            <a:r>
              <a:rPr lang="zh-TW" altLang="en-US" dirty="0"/>
              <a:t>）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C9545C93-90F3-112E-464B-1554CA9F8971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5F845C89-D173-B918-5034-C3005EF1E23B}"/>
              </a:ext>
            </a:extLst>
          </p:cNvPr>
          <p:cNvSpPr txBox="1">
            <a:spLocks/>
          </p:cNvSpPr>
          <p:nvPr/>
        </p:nvSpPr>
        <p:spPr>
          <a:xfrm>
            <a:off x="624468" y="1057785"/>
            <a:ext cx="7902498" cy="335809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●"/>
              <a:defRPr sz="13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tabLst>
                <a:tab pos="1207294" algn="l"/>
                <a:tab pos="1207294" algn="l"/>
                <a:tab pos="1207294" algn="l"/>
                <a:tab pos="1207294" algn="l"/>
              </a:tabLst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Wingdings" panose="05000000000000000000" charset="0"/>
              <a:buChar char="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1200" dirty="0"/>
              <a:t> </a:t>
            </a:r>
            <a:r>
              <a:rPr lang="en-US" altLang="zh-TW" sz="1200" dirty="0" err="1"/>
              <a:t>clangd</a:t>
            </a:r>
            <a:r>
              <a:rPr lang="en-US" altLang="zh-TW" sz="1200" dirty="0"/>
              <a:t> </a:t>
            </a:r>
            <a:r>
              <a:rPr lang="zh-TW" altLang="en-US" sz="1200" dirty="0"/>
              <a:t>是以 </a:t>
            </a:r>
            <a:r>
              <a:rPr lang="en-US" altLang="zh-TW" sz="1200" dirty="0"/>
              <a:t>LLVM/Clang </a:t>
            </a:r>
            <a:r>
              <a:rPr lang="zh-TW" altLang="en-US" sz="1200" dirty="0"/>
              <a:t>為基礎的 </a:t>
            </a:r>
            <a:r>
              <a:rPr lang="en-US" altLang="zh-TW" sz="1200" dirty="0"/>
              <a:t>Language Server</a:t>
            </a:r>
            <a:r>
              <a:rPr lang="zh-TW" altLang="en-US" sz="1200" dirty="0"/>
              <a:t>，透過 </a:t>
            </a:r>
            <a:r>
              <a:rPr lang="en-US" altLang="zh-TW" sz="1200" dirty="0"/>
              <a:t>LSP </a:t>
            </a:r>
            <a:r>
              <a:rPr lang="zh-TW" altLang="en-US" sz="1200" dirty="0"/>
              <a:t>協定提供以下功能：</a:t>
            </a:r>
          </a:p>
          <a:p>
            <a:pPr>
              <a:lnSpc>
                <a:spcPct val="100000"/>
              </a:lnSpc>
            </a:pPr>
            <a:r>
              <a:rPr lang="zh-TW" altLang="en-US" sz="1200" dirty="0"/>
              <a:t>編輯輔助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050" dirty="0"/>
              <a:t>自動完成 </a:t>
            </a:r>
            <a:r>
              <a:rPr lang="en-US" altLang="zh-TW" sz="1050" dirty="0"/>
              <a:t>— </a:t>
            </a:r>
            <a:r>
              <a:rPr lang="zh-TW" altLang="en-US" sz="1050" dirty="0"/>
              <a:t>輸入時即時列出符合的函式、變數、</a:t>
            </a:r>
            <a:r>
              <a:rPr lang="en-US" altLang="zh-TW" sz="1050" dirty="0"/>
              <a:t>macro</a:t>
            </a:r>
            <a:r>
              <a:rPr lang="zh-TW" altLang="en-US" sz="1050" dirty="0"/>
              <a:t>、</a:t>
            </a:r>
            <a:r>
              <a:rPr lang="en-US" altLang="zh-TW" sz="1050" dirty="0"/>
              <a:t>struct </a:t>
            </a:r>
            <a:r>
              <a:rPr lang="zh-TW" altLang="en-US" sz="1050" dirty="0"/>
              <a:t>成員，附帶型別與說明</a:t>
            </a:r>
            <a:endParaRPr lang="en-US" altLang="zh-TW" sz="105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en-US" altLang="zh-TW" sz="1050" dirty="0"/>
              <a:t>Signature Help — </a:t>
            </a:r>
            <a:r>
              <a:rPr lang="zh-TW" altLang="en-US" sz="1050" dirty="0"/>
              <a:t>呼叫函式時顯示參數列表，標示目前游標在第幾個參數</a:t>
            </a:r>
            <a:r>
              <a:rPr lang="en-US" altLang="zh-TW" sz="1050" dirty="0"/>
              <a:t>	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en-US" altLang="zh-TW" sz="1050" dirty="0"/>
              <a:t>Hover — </a:t>
            </a:r>
            <a:r>
              <a:rPr lang="zh-TW" altLang="en-US" sz="1050" dirty="0"/>
              <a:t>滑鼠懸停顯示宣告原型、</a:t>
            </a:r>
            <a:r>
              <a:rPr lang="en-US" altLang="zh-TW" sz="1050" dirty="0" err="1"/>
              <a:t>doxygen</a:t>
            </a:r>
            <a:r>
              <a:rPr lang="en-US" altLang="zh-TW" sz="1050" dirty="0"/>
              <a:t> </a:t>
            </a:r>
            <a:r>
              <a:rPr lang="zh-TW" altLang="en-US" sz="1050" dirty="0"/>
              <a:t>註解、</a:t>
            </a:r>
            <a:r>
              <a:rPr lang="en-US" altLang="zh-TW" sz="1050" dirty="0"/>
              <a:t>macro </a:t>
            </a:r>
            <a:r>
              <a:rPr lang="zh-TW" altLang="en-US" sz="1050" dirty="0"/>
              <a:t>展開結果</a:t>
            </a:r>
            <a:endParaRPr lang="zh-TW" altLang="en-US" sz="1200" dirty="0"/>
          </a:p>
          <a:p>
            <a:pPr>
              <a:lnSpc>
                <a:spcPct val="100000"/>
              </a:lnSpc>
            </a:pPr>
            <a:r>
              <a:rPr lang="zh-TW" altLang="en-US" sz="1200" dirty="0"/>
              <a:t>  導航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050" dirty="0"/>
              <a:t>跳到宣告</a:t>
            </a:r>
            <a:r>
              <a:rPr lang="en-US" altLang="zh-TW" sz="1050" dirty="0"/>
              <a:t>/</a:t>
            </a:r>
            <a:r>
              <a:rPr lang="zh-TW" altLang="en-US" sz="1050" dirty="0"/>
              <a:t>定義處（含跨檔案、跨 </a:t>
            </a:r>
            <a:r>
              <a:rPr lang="en-US" altLang="zh-TW" sz="1050" dirty="0" err="1"/>
              <a:t>FWLib</a:t>
            </a:r>
            <a:r>
              <a:rPr lang="zh-TW" altLang="en-US" sz="1050" dirty="0"/>
              <a:t>）</a:t>
            </a:r>
            <a:endParaRPr lang="en-US" altLang="zh-TW" sz="105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050" dirty="0"/>
              <a:t>跳到標頭檔宣告</a:t>
            </a:r>
            <a:endParaRPr lang="en-US" altLang="zh-TW" sz="105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200" dirty="0"/>
              <a:t>列出所有使用位置</a:t>
            </a:r>
            <a:endParaRPr lang="en-US" altLang="zh-TW" sz="120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200" dirty="0"/>
              <a:t>在目前檔案中搜尋符號</a:t>
            </a:r>
          </a:p>
          <a:p>
            <a:pPr>
              <a:lnSpc>
                <a:spcPct val="100000"/>
              </a:lnSpc>
            </a:pPr>
            <a:r>
              <a:rPr lang="zh-TW" altLang="en-US" sz="1200" dirty="0"/>
              <a:t>  錯誤診斷</a:t>
            </a:r>
            <a:endParaRPr lang="en-US" altLang="zh-TW" sz="120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050" dirty="0"/>
              <a:t>即時錯誤</a:t>
            </a:r>
            <a:r>
              <a:rPr lang="en-US" altLang="zh-TW" sz="1050" dirty="0"/>
              <a:t>/</a:t>
            </a:r>
            <a:r>
              <a:rPr lang="zh-TW" altLang="en-US" sz="1050" dirty="0"/>
              <a:t>警告 </a:t>
            </a:r>
            <a:r>
              <a:rPr lang="en-US" altLang="zh-TW" sz="1050" dirty="0"/>
              <a:t>— </a:t>
            </a:r>
            <a:r>
              <a:rPr lang="zh-TW" altLang="en-US" sz="1050" dirty="0"/>
              <a:t>不需編譯就能看到型別錯誤、未宣告識別字、語法錯誤（紅</a:t>
            </a:r>
            <a:r>
              <a:rPr lang="en-US" altLang="zh-TW" sz="1050" dirty="0"/>
              <a:t>/</a:t>
            </a:r>
            <a:r>
              <a:rPr lang="zh-TW" altLang="en-US" sz="1050" dirty="0"/>
              <a:t>黃波浪線）</a:t>
            </a:r>
            <a:endParaRPr lang="en-US" altLang="zh-TW" sz="105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200" dirty="0"/>
              <a:t>使用 </a:t>
            </a:r>
            <a:r>
              <a:rPr lang="en-US" altLang="zh-TW" sz="1200" dirty="0" err="1"/>
              <a:t>compile_commands.json</a:t>
            </a:r>
            <a:r>
              <a:rPr lang="en-US" altLang="zh-TW" sz="1200" dirty="0"/>
              <a:t> </a:t>
            </a:r>
            <a:r>
              <a:rPr lang="zh-TW" altLang="en-US" sz="1200" dirty="0"/>
              <a:t>確保 </a:t>
            </a:r>
            <a:r>
              <a:rPr lang="en-US" altLang="zh-TW" sz="1200" dirty="0"/>
              <a:t>include path </a:t>
            </a:r>
            <a:r>
              <a:rPr lang="zh-TW" altLang="en-US" sz="1200" dirty="0"/>
              <a:t>與 </a:t>
            </a:r>
            <a:r>
              <a:rPr lang="en-US" altLang="zh-TW" sz="1200" dirty="0"/>
              <a:t>define </a:t>
            </a:r>
            <a:r>
              <a:rPr lang="zh-TW" altLang="en-US" sz="1200" dirty="0"/>
              <a:t>與實際編譯完全一致，不會有誤報</a:t>
            </a:r>
          </a:p>
        </p:txBody>
      </p:sp>
    </p:spTree>
    <p:extLst>
      <p:ext uri="{BB962C8B-B14F-4D97-AF65-F5344CB8AC3E}">
        <p14:creationId xmlns:p14="http://schemas.microsoft.com/office/powerpoint/2010/main" val="422160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346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通用版會議母片_20240129</Template>
  <TotalTime>4242</TotalTime>
  <Words>2413</Words>
  <Application>Microsoft Office PowerPoint</Application>
  <PresentationFormat>如螢幕大小 (16:9)</PresentationFormat>
  <Paragraphs>386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3" baseType="lpstr">
      <vt:lpstr>-apple-system</vt:lpstr>
      <vt:lpstr>Arial Unicode MS</vt:lpstr>
      <vt:lpstr>微软雅黑</vt:lpstr>
      <vt:lpstr>Microsoft JhengHei</vt:lpstr>
      <vt:lpstr>Microsoft JhengHei</vt:lpstr>
      <vt:lpstr>Arial</vt:lpstr>
      <vt:lpstr>Consolas</vt:lpstr>
      <vt:lpstr>Wingdings</vt:lpstr>
      <vt:lpstr>Office 主题​​</vt:lpstr>
      <vt:lpstr>HT32 VSCode開發環境擴充功能</vt:lpstr>
      <vt:lpstr>簡介</vt:lpstr>
      <vt:lpstr>介面介紹</vt:lpstr>
      <vt:lpstr>安裝Extension</vt:lpstr>
      <vt:lpstr>介面介紹(1)</vt:lpstr>
      <vt:lpstr>介面介紹(2)</vt:lpstr>
      <vt:lpstr>介面介紹(3)</vt:lpstr>
      <vt:lpstr>專案檔(.ht32vs)</vt:lpstr>
      <vt:lpstr>建立新專案(1)</vt:lpstr>
      <vt:lpstr>建立新專案(2)</vt:lpstr>
      <vt:lpstr>建立新專案(3)-多專案</vt:lpstr>
      <vt:lpstr>匯入Keil專案</vt:lpstr>
      <vt:lpstr>匯入HT32-IDE專案</vt:lpstr>
      <vt:lpstr>建置/清除</vt:lpstr>
      <vt:lpstr>燒錄韌體</vt:lpstr>
      <vt:lpstr>除錯</vt:lpstr>
      <vt:lpstr>堆疊使用分析</vt:lpstr>
      <vt:lpstr>專案設定 — 編譯</vt:lpstr>
      <vt:lpstr>專案設定 —除錯</vt:lpstr>
      <vt:lpstr>專案設定 —工具鏈路徑（全域）</vt:lpstr>
      <vt:lpstr>設定精靈-Configuration Wizard</vt:lpstr>
      <vt:lpstr>IntelliSense（clangd）</vt:lpstr>
      <vt:lpstr>IntelliSense（clangd）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蘇麗卿</cp:lastModifiedBy>
  <cp:revision>52</cp:revision>
  <dcterms:created xsi:type="dcterms:W3CDTF">2026-05-21T11:29:27Z</dcterms:created>
  <dcterms:modified xsi:type="dcterms:W3CDTF">2026-08-04T02:34:19Z</dcterms:modified>
</cp:coreProperties>
</file>